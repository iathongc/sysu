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7" r:id="rId2"/>
    <p:sldId id="488" r:id="rId3"/>
    <p:sldId id="489" r:id="rId4"/>
    <p:sldId id="490" r:id="rId5"/>
    <p:sldId id="491" r:id="rId6"/>
    <p:sldId id="492" r:id="rId7"/>
    <p:sldId id="493" r:id="rId8"/>
    <p:sldId id="494" r:id="rId9"/>
    <p:sldId id="495" r:id="rId10"/>
    <p:sldId id="487" r:id="rId1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31" autoAdjust="0"/>
    <p:restoredTop sz="92583" autoAdjust="0"/>
  </p:normalViewPr>
  <p:slideViewPr>
    <p:cSldViewPr>
      <p:cViewPr varScale="1">
        <p:scale>
          <a:sx n="76" d="100"/>
          <a:sy n="76" d="100"/>
        </p:scale>
        <p:origin x="147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372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65AA64-2E6A-4E7F-9AC0-4E42F2F5F9E4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E4AD79-19DB-47FC-830E-5AEAE1D6F3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378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30" name="日期占位符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单圆角矩形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直角三角形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  <p:sp>
        <p:nvSpPr>
          <p:cNvPr id="10" name="任意多边形 9"/>
          <p:cNvSpPr/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任意多边形 10"/>
          <p:cNvSpPr/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CDC368-12B8-4519-970C-9C35FF9596F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任意多边形 7"/>
          <p:cNvSpPr/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标题占位符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0" name="文本占位符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22" name="页脚占位符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任意多边形 11"/>
            <p:cNvSpPr/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任意多边形 12"/>
            <p:cNvSpPr/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7015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 panose="05020102010507070707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7015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185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185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185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 panose="05020102010507070707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 panose="05020102010507070707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3528" y="1371600"/>
            <a:ext cx="8061520" cy="1828800"/>
          </a:xfrm>
        </p:spPr>
        <p:txBody>
          <a:bodyPr/>
          <a:lstStyle/>
          <a:p>
            <a:pPr algn="ctr"/>
            <a:r>
              <a:rPr lang="zh-CN" altLang="en-US" dirty="0"/>
              <a:t>课堂实验</a:t>
            </a:r>
            <a:r>
              <a:rPr lang="en-US" altLang="zh-CN"/>
              <a:t>4</a:t>
            </a:r>
            <a:br>
              <a:rPr lang="en-US" altLang="zh-CN" dirty="0"/>
            </a:br>
            <a:r>
              <a:rPr lang="zh-CN" altLang="en-US" dirty="0"/>
              <a:t>（实验六）</a:t>
            </a:r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实验六 数据选择器电路原理及应用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79512" y="1935480"/>
            <a:ext cx="8507288" cy="4389120"/>
          </a:xfrm>
        </p:spPr>
        <p:txBody>
          <a:bodyPr/>
          <a:lstStyle/>
          <a:p>
            <a:pPr>
              <a:buNone/>
            </a:pPr>
            <a:r>
              <a:rPr lang="zh-CN" altLang="en-US" b="1" dirty="0"/>
              <a:t>一、实验内容</a:t>
            </a:r>
            <a:endParaRPr lang="en-US" altLang="zh-CN" b="1" dirty="0"/>
          </a:p>
          <a:p>
            <a:pPr>
              <a:buNone/>
            </a:pPr>
            <a:r>
              <a:rPr lang="zh-CN" altLang="en-US" dirty="0"/>
              <a:t>内容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1</a:t>
            </a:r>
            <a:r>
              <a:rPr lang="zh-CN" altLang="en-US" dirty="0"/>
              <a:t>、设计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列真值表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691680" y="2924944"/>
          <a:ext cx="7344815" cy="370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8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8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8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89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89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输入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输出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</a:t>
                      </a:r>
                      <a:r>
                        <a:rPr lang="zh-CN" altLang="en-US" dirty="0"/>
                        <a:t>（进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借位）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4943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）根据真值表直接列出</a:t>
            </a:r>
            <a:r>
              <a:rPr lang="en-US" altLang="zh-CN" dirty="0"/>
              <a:t>Y</a:t>
            </a:r>
            <a:r>
              <a:rPr lang="zh-CN" altLang="en-US" dirty="0"/>
              <a:t>和</a:t>
            </a:r>
            <a:r>
              <a:rPr lang="en-US" altLang="zh-CN" dirty="0"/>
              <a:t>C</a:t>
            </a:r>
            <a:r>
              <a:rPr lang="zh-CN" altLang="en-US" dirty="0"/>
              <a:t>的逻辑表达式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Y=MAB+MAB+MAB+MAB</a:t>
            </a:r>
          </a:p>
          <a:p>
            <a:pPr>
              <a:buNone/>
            </a:pPr>
            <a:r>
              <a:rPr lang="en-US" altLang="zh-CN" dirty="0"/>
              <a:t>C=MAB+MAB</a:t>
            </a:r>
          </a:p>
          <a:p>
            <a:pPr marL="0" indent="0">
              <a:buNone/>
            </a:pPr>
            <a:r>
              <a:rPr lang="zh-CN" altLang="en-US" dirty="0"/>
              <a:t>不用化简逻辑表达式。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）将</a:t>
            </a:r>
            <a:r>
              <a:rPr lang="en-US" altLang="zh-CN" dirty="0"/>
              <a:t> Y,C</a:t>
            </a:r>
            <a:r>
              <a:rPr lang="zh-CN" altLang="en-US" dirty="0"/>
              <a:t>关于</a:t>
            </a:r>
            <a:r>
              <a:rPr lang="en-US" altLang="zh-CN" dirty="0"/>
              <a:t>S,A,B</a:t>
            </a:r>
            <a:r>
              <a:rPr lang="zh-CN" altLang="en-US" dirty="0"/>
              <a:t>的输出表达式与</a:t>
            </a:r>
            <a:r>
              <a:rPr lang="en-US" altLang="zh-CN" dirty="0"/>
              <a:t>74LS151</a:t>
            </a:r>
            <a:r>
              <a:rPr lang="zh-CN" altLang="en-US" dirty="0"/>
              <a:t>表达式相对照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endParaRPr lang="zh-CN" altLang="en-US" dirty="0"/>
          </a:p>
        </p:txBody>
      </p:sp>
      <p:cxnSp>
        <p:nvCxnSpPr>
          <p:cNvPr id="3" name="直接连接符 2"/>
          <p:cNvCxnSpPr/>
          <p:nvPr/>
        </p:nvCxnSpPr>
        <p:spPr>
          <a:xfrm>
            <a:off x="971600" y="769264"/>
            <a:ext cx="144016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1259632" y="769264"/>
            <a:ext cx="144016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1907704" y="769264"/>
            <a:ext cx="144016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2336332" y="769264"/>
            <a:ext cx="144016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3059832" y="769264"/>
            <a:ext cx="144016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139952" y="769264"/>
            <a:ext cx="144016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980150" y="1268760"/>
            <a:ext cx="144016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2195736" y="1268760"/>
            <a:ext cx="144016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 descr="151表达式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59632" y="3501008"/>
            <a:ext cx="5456393" cy="118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350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658336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）选择器件实现（</a:t>
            </a:r>
            <a:r>
              <a:rPr lang="en-US" altLang="zh-CN" dirty="0"/>
              <a:t>74LS151</a:t>
            </a:r>
            <a:r>
              <a:rPr lang="zh-CN" altLang="en-US" dirty="0"/>
              <a:t>芯片）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与</a:t>
            </a:r>
            <a:r>
              <a:rPr lang="en-US" altLang="zh-CN" dirty="0"/>
              <a:t>151</a:t>
            </a:r>
            <a:r>
              <a:rPr lang="zh-CN" altLang="en-US" dirty="0"/>
              <a:t>芯片输出表达式对比得出</a:t>
            </a:r>
            <a:endParaRPr lang="en-US" altLang="zh-CN" dirty="0"/>
          </a:p>
          <a:p>
            <a:pPr marL="0" lvl="0" indent="0">
              <a:buNone/>
            </a:pPr>
            <a:r>
              <a:rPr lang="zh-CN" altLang="en-US" dirty="0"/>
              <a:t>令</a:t>
            </a:r>
            <a:r>
              <a:rPr lang="en-US" altLang="zh-CN" dirty="0"/>
              <a:t>S2=M,S1=A,S0=B</a:t>
            </a:r>
            <a:r>
              <a:rPr lang="zh-CN" altLang="en-US" dirty="0">
                <a:solidFill>
                  <a:prstClr val="black"/>
                </a:solidFill>
              </a:rPr>
              <a:t>，</a:t>
            </a:r>
            <a:r>
              <a:rPr lang="en-US" altLang="zh-CN" dirty="0">
                <a:solidFill>
                  <a:prstClr val="black"/>
                </a:solidFill>
              </a:rPr>
              <a:t> </a:t>
            </a:r>
            <a:r>
              <a:rPr lang="zh-CN" altLang="en-US" dirty="0">
                <a:solidFill>
                  <a:prstClr val="black"/>
                </a:solidFill>
              </a:rPr>
              <a:t>置</a:t>
            </a:r>
            <a:r>
              <a:rPr lang="en-US" altLang="zh-CN" dirty="0">
                <a:solidFill>
                  <a:prstClr val="black"/>
                </a:solidFill>
              </a:rPr>
              <a:t>D0,D3,D4,D7=0</a:t>
            </a:r>
            <a:r>
              <a:rPr lang="zh-CN" altLang="en-US" dirty="0">
                <a:solidFill>
                  <a:prstClr val="black"/>
                </a:solidFill>
              </a:rPr>
              <a:t>（低电平），</a:t>
            </a:r>
            <a:r>
              <a:rPr lang="en-US" altLang="zh-CN" dirty="0">
                <a:solidFill>
                  <a:prstClr val="black"/>
                </a:solidFill>
              </a:rPr>
              <a:t>D1,D2,D5,D6=1</a:t>
            </a:r>
            <a:r>
              <a:rPr lang="zh-CN" altLang="en-US" dirty="0">
                <a:solidFill>
                  <a:prstClr val="black"/>
                </a:solidFill>
              </a:rPr>
              <a:t>（高电平）</a:t>
            </a:r>
            <a:endParaRPr lang="en-US" altLang="zh-CN" dirty="0">
              <a:solidFill>
                <a:prstClr val="black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Y=Z= MAB+MAB+MAB+MAB</a:t>
            </a:r>
          </a:p>
          <a:p>
            <a:pPr marL="0" indent="0">
              <a:buNone/>
            </a:pPr>
            <a:endParaRPr lang="en-US" altLang="zh-CN" dirty="0"/>
          </a:p>
          <a:p>
            <a:pPr marL="0" lvl="0" indent="0">
              <a:buNone/>
            </a:pPr>
            <a:r>
              <a:rPr lang="zh-CN" altLang="en-US" dirty="0"/>
              <a:t>令</a:t>
            </a:r>
            <a:r>
              <a:rPr lang="en-US" altLang="zh-CN" dirty="0"/>
              <a:t>S2=M,S1=A,S0=B</a:t>
            </a:r>
            <a:r>
              <a:rPr lang="zh-CN" altLang="en-US" dirty="0">
                <a:solidFill>
                  <a:prstClr val="black"/>
                </a:solidFill>
              </a:rPr>
              <a:t>，</a:t>
            </a:r>
            <a:r>
              <a:rPr lang="en-US" altLang="zh-CN" dirty="0">
                <a:solidFill>
                  <a:prstClr val="black"/>
                </a:solidFill>
              </a:rPr>
              <a:t> </a:t>
            </a:r>
            <a:r>
              <a:rPr lang="zh-CN" altLang="en-US" dirty="0">
                <a:solidFill>
                  <a:prstClr val="black"/>
                </a:solidFill>
              </a:rPr>
              <a:t>置</a:t>
            </a:r>
            <a:r>
              <a:rPr lang="en-US" altLang="zh-CN" dirty="0">
                <a:solidFill>
                  <a:prstClr val="black"/>
                </a:solidFill>
              </a:rPr>
              <a:t>D0,D1,D2,D4,D6,D7=0</a:t>
            </a:r>
            <a:r>
              <a:rPr lang="zh-CN" altLang="en-US" dirty="0">
                <a:solidFill>
                  <a:prstClr val="black"/>
                </a:solidFill>
              </a:rPr>
              <a:t>（低电平），</a:t>
            </a:r>
            <a:r>
              <a:rPr lang="en-US" altLang="zh-CN" dirty="0">
                <a:solidFill>
                  <a:prstClr val="black"/>
                </a:solidFill>
              </a:rPr>
              <a:t>D3,D5=1</a:t>
            </a:r>
            <a:r>
              <a:rPr lang="zh-CN" altLang="en-US" dirty="0">
                <a:solidFill>
                  <a:prstClr val="black"/>
                </a:solidFill>
              </a:rPr>
              <a:t>（高电平）</a:t>
            </a:r>
            <a:endParaRPr lang="en-US" altLang="zh-CN" dirty="0">
              <a:solidFill>
                <a:prstClr val="black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C=Z=MAB+MAB</a:t>
            </a:r>
          </a:p>
          <a:p>
            <a:pPr marL="0" indent="0">
              <a:buNone/>
            </a:pPr>
            <a:endParaRPr lang="en-US" altLang="zh-CN" dirty="0"/>
          </a:p>
          <a:p>
            <a:pPr marL="0" lvl="0" indent="0">
              <a:buNone/>
            </a:pPr>
            <a:r>
              <a:rPr lang="en-US" altLang="zh-CN" dirty="0"/>
              <a:t>3</a:t>
            </a:r>
            <a:r>
              <a:rPr lang="zh-CN" altLang="en-US" dirty="0"/>
              <a:t>、静态测试，用“</a:t>
            </a:r>
            <a:r>
              <a:rPr lang="en-US" altLang="zh-CN" dirty="0"/>
              <a:t>0-1</a:t>
            </a:r>
            <a:r>
              <a:rPr lang="zh-CN" altLang="en-US" dirty="0"/>
              <a:t>”显示器检查输出是否符合真值表。</a:t>
            </a:r>
            <a:endParaRPr lang="en-US" altLang="zh-CN" dirty="0"/>
          </a:p>
          <a:p>
            <a:pPr marL="0" lv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4</a:t>
            </a:r>
            <a:r>
              <a:rPr lang="zh-CN" altLang="en-US" dirty="0"/>
              <a:t>、动态测试。</a:t>
            </a:r>
            <a:r>
              <a:rPr lang="en-US" altLang="zh-CN" dirty="0"/>
              <a:t>74LS197</a:t>
            </a:r>
            <a:r>
              <a:rPr lang="zh-CN" altLang="en-US" dirty="0"/>
              <a:t>接成</a:t>
            </a:r>
            <a:r>
              <a:rPr lang="en-US" altLang="zh-CN" dirty="0"/>
              <a:t>8</a:t>
            </a:r>
            <a:r>
              <a:rPr lang="zh-CN" altLang="en-US" dirty="0"/>
              <a:t>进制计数器，</a:t>
            </a:r>
            <a:r>
              <a:rPr lang="en-US" altLang="zh-CN" dirty="0"/>
              <a:t>CP1</a:t>
            </a:r>
            <a:r>
              <a:rPr lang="zh-CN" altLang="en-US" dirty="0"/>
              <a:t>接</a:t>
            </a:r>
            <a:r>
              <a:rPr lang="en-US" altLang="zh-CN" dirty="0"/>
              <a:t>10KHz</a:t>
            </a:r>
            <a:r>
              <a:rPr lang="zh-CN" altLang="en-US" dirty="0"/>
              <a:t>方波观测</a:t>
            </a:r>
            <a:r>
              <a:rPr lang="en-US" altLang="zh-CN" dirty="0"/>
              <a:t>S</a:t>
            </a:r>
            <a:r>
              <a:rPr lang="zh-CN" altLang="en-US" dirty="0"/>
              <a:t>、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、</a:t>
            </a:r>
            <a:r>
              <a:rPr lang="en-US" altLang="zh-CN" dirty="0"/>
              <a:t>Y</a:t>
            </a:r>
            <a:r>
              <a:rPr lang="zh-CN" altLang="en-US" dirty="0"/>
              <a:t>、</a:t>
            </a:r>
            <a:r>
              <a:rPr lang="en-US" altLang="zh-CN" dirty="0"/>
              <a:t>C</a:t>
            </a:r>
            <a:r>
              <a:rPr lang="zh-CN" altLang="en-US" dirty="0"/>
              <a:t>以及</a:t>
            </a:r>
            <a:r>
              <a:rPr lang="en-US" altLang="zh-CN" dirty="0"/>
              <a:t>CP1</a:t>
            </a:r>
            <a:r>
              <a:rPr lang="zh-CN" altLang="en-US" dirty="0"/>
              <a:t>的输出波形，检查是否符合真值表。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cxnSp>
        <p:nvCxnSpPr>
          <p:cNvPr id="3" name="直接连接符 2"/>
          <p:cNvCxnSpPr/>
          <p:nvPr/>
        </p:nvCxnSpPr>
        <p:spPr>
          <a:xfrm>
            <a:off x="1331640" y="2204864"/>
            <a:ext cx="144016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1619672" y="2204864"/>
            <a:ext cx="144016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2195736" y="2204864"/>
            <a:ext cx="144016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2627784" y="2204864"/>
            <a:ext cx="144016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3275856" y="2204864"/>
            <a:ext cx="144016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345702" y="2204864"/>
            <a:ext cx="144016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331640" y="3781630"/>
            <a:ext cx="179356" cy="741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2408340" y="3781630"/>
            <a:ext cx="219444" cy="741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1100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 txBox="1"/>
          <p:nvPr/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prstClr val="black"/>
                </a:solidFill>
              </a:rPr>
              <a:t>内容</a:t>
            </a:r>
            <a:r>
              <a:rPr lang="en-US" altLang="zh-CN" dirty="0">
                <a:solidFill>
                  <a:prstClr val="black"/>
                </a:solidFill>
              </a:rPr>
              <a:t>2</a:t>
            </a:r>
            <a:r>
              <a:rPr lang="zh-CN" altLang="en-US" dirty="0">
                <a:solidFill>
                  <a:prstClr val="black"/>
                </a:solidFill>
              </a:rPr>
              <a:t>：</a:t>
            </a:r>
            <a:endParaRPr lang="en-US" altLang="zh-CN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prstClr val="black"/>
                </a:solidFill>
              </a:rPr>
              <a:t>1</a:t>
            </a:r>
            <a:r>
              <a:rPr lang="zh-CN" altLang="en-US" dirty="0">
                <a:solidFill>
                  <a:prstClr val="black"/>
                </a:solidFill>
              </a:rPr>
              <a:t>、自行设计，根据功能表列出</a:t>
            </a:r>
            <a:endParaRPr lang="en-US" altLang="zh-CN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prstClr val="black"/>
                </a:solidFill>
              </a:rPr>
              <a:t>Y</a:t>
            </a:r>
            <a:r>
              <a:rPr lang="zh-CN" altLang="en-US" dirty="0">
                <a:solidFill>
                  <a:prstClr val="black"/>
                </a:solidFill>
              </a:rPr>
              <a:t>的输出表达式，与</a:t>
            </a:r>
            <a:r>
              <a:rPr lang="en-US" altLang="zh-CN" dirty="0">
                <a:solidFill>
                  <a:prstClr val="black"/>
                </a:solidFill>
              </a:rPr>
              <a:t>151</a:t>
            </a:r>
            <a:r>
              <a:rPr lang="zh-CN" altLang="en-US" dirty="0">
                <a:solidFill>
                  <a:prstClr val="black"/>
                </a:solidFill>
              </a:rPr>
              <a:t>芯片输出</a:t>
            </a:r>
            <a:endParaRPr lang="en-US" altLang="zh-CN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prstClr val="black"/>
                </a:solidFill>
              </a:rPr>
              <a:t>表达式比较后获得</a:t>
            </a:r>
            <a:r>
              <a:rPr lang="en-US" altLang="zh-CN" dirty="0">
                <a:solidFill>
                  <a:prstClr val="black"/>
                </a:solidFill>
              </a:rPr>
              <a:t>151</a:t>
            </a:r>
            <a:r>
              <a:rPr lang="zh-CN" altLang="en-US" dirty="0">
                <a:solidFill>
                  <a:prstClr val="black"/>
                </a:solidFill>
              </a:rPr>
              <a:t>芯片接法。</a:t>
            </a:r>
            <a:endParaRPr lang="en-US" altLang="zh-CN" dirty="0">
              <a:solidFill>
                <a:prstClr val="black"/>
              </a:solidFill>
            </a:endParaRPr>
          </a:p>
        </p:txBody>
      </p:sp>
      <p:graphicFrame>
        <p:nvGraphicFramePr>
          <p:cNvPr id="4" name="Group 44"/>
          <p:cNvGraphicFramePr/>
          <p:nvPr/>
        </p:nvGraphicFramePr>
        <p:xfrm>
          <a:off x="6623669" y="0"/>
          <a:ext cx="2160588" cy="6893560"/>
        </p:xfrm>
        <a:graphic>
          <a:graphicData uri="http://schemas.openxmlformats.org/drawingml/2006/table">
            <a:tbl>
              <a:tblPr/>
              <a:tblGrid>
                <a:gridCol w="172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en-US" altLang="zh-CN" sz="2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M</a:t>
                      </a:r>
                      <a:r>
                        <a:rPr kumimoji="0" lang="en-US" altLang="zh-CN" sz="2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A  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83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0    0   0   0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0    0   0   1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0    0   1   0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0    0   1   1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0    1   0   0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0    1   0   1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0    1   1   0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0    1   1   1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1    0   0   0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1    0   0   1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1    0   1   0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1    0   1   1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1    1   0   0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1    1   0   1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1    1   1   0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1    1   1   1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Group 88"/>
          <p:cNvGrpSpPr/>
          <p:nvPr/>
        </p:nvGrpSpPr>
        <p:grpSpPr bwMode="auto">
          <a:xfrm>
            <a:off x="3275583" y="4148387"/>
            <a:ext cx="1368425" cy="1656877"/>
            <a:chOff x="2563" y="1162"/>
            <a:chExt cx="862" cy="1458"/>
          </a:xfrm>
        </p:grpSpPr>
        <p:sp>
          <p:nvSpPr>
            <p:cNvPr id="6" name="Rectangle 51"/>
            <p:cNvSpPr>
              <a:spLocks noChangeArrowheads="1"/>
            </p:cNvSpPr>
            <p:nvPr/>
          </p:nvSpPr>
          <p:spPr bwMode="auto">
            <a:xfrm>
              <a:off x="2835" y="1162"/>
              <a:ext cx="590" cy="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AutoNum type="alphaUcPeriod"/>
              </a:pPr>
              <a:r>
                <a:rPr lang="en-US" altLang="zh-CN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  <a:p>
              <a:r>
                <a:rPr lang="en-US" altLang="zh-CN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A+B</a:t>
              </a:r>
            </a:p>
            <a:p>
              <a:r>
                <a:rPr lang="en-US" altLang="zh-CN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A⊕B</a:t>
              </a:r>
            </a:p>
            <a:p>
              <a:r>
                <a:rPr lang="en-US" altLang="zh-CN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dirty="0">
                <a:solidFill>
                  <a:prstClr val="black"/>
                </a:solidFill>
              </a:endParaRPr>
            </a:p>
          </p:txBody>
        </p:sp>
        <p:sp>
          <p:nvSpPr>
            <p:cNvPr id="7" name="Line 45"/>
            <p:cNvSpPr>
              <a:spLocks noChangeShapeType="1"/>
            </p:cNvSpPr>
            <p:nvPr/>
          </p:nvSpPr>
          <p:spPr bwMode="auto">
            <a:xfrm flipH="1">
              <a:off x="2563" y="2614"/>
              <a:ext cx="136" cy="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graphicFrame>
        <p:nvGraphicFramePr>
          <p:cNvPr id="8" name="Group 87"/>
          <p:cNvGraphicFramePr>
            <a:graphicFrameLocks noGrp="1"/>
          </p:cNvGraphicFramePr>
          <p:nvPr/>
        </p:nvGraphicFramePr>
        <p:xfrm>
          <a:off x="1475656" y="3501008"/>
          <a:ext cx="3168650" cy="2305051"/>
        </p:xfrm>
        <a:graphic>
          <a:graphicData uri="http://schemas.openxmlformats.org/drawingml/2006/table">
            <a:tbl>
              <a:tblPr/>
              <a:tblGrid>
                <a:gridCol w="1157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6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0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43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9" name="直接连接符 8"/>
          <p:cNvCxnSpPr/>
          <p:nvPr/>
        </p:nvCxnSpPr>
        <p:spPr>
          <a:xfrm>
            <a:off x="3786182" y="5357826"/>
            <a:ext cx="214314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0741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2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74LS151</a:t>
                </a:r>
                <a:r>
                  <a:rPr lang="zh-CN" altLang="en-US" dirty="0"/>
                  <a:t>输出表达式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Z=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</a:rPr>
                          <m:t>S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</a:rPr>
                          <m:t>S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</a:rPr>
                          <m:t>S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0+</m:t>
                    </m:r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</a:rPr>
                          <m:t>S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</a:rPr>
                          <m:t>S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b="0" i="0" smtClean="0">
                        <a:latin typeface="Cambria Math"/>
                      </a:rPr>
                      <m:t>S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1+</m:t>
                    </m:r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</a:rPr>
                          <m:t>S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b="0" i="0" smtClean="0">
                        <a:latin typeface="Cambria Math"/>
                      </a:rPr>
                      <m:t>S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1</m:t>
                    </m:r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</a:rPr>
                          <m:t>S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2+</m:t>
                    </m:r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</a:rPr>
                          <m:t>S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b="0" i="0" smtClean="0">
                        <a:latin typeface="Cambria Math"/>
                      </a:rPr>
                      <m:t>S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/>
                      </a:rPr>
                      <m:t>S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3+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/>
                      </a:rPr>
                      <m:t>S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</a:rPr>
                          <m:t>S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</a:rPr>
                          <m:t>S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4+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/>
                      </a:rPr>
                      <m:t>S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</a:rPr>
                          <m:t>S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b="0" i="0" smtClean="0">
                        <a:latin typeface="Cambria Math"/>
                      </a:rPr>
                      <m:t>S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5+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/>
                      </a:rPr>
                      <m:t>S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/>
                      </a:rPr>
                      <m:t>S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1</m:t>
                    </m:r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</a:rPr>
                          <m:t>S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6+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/>
                      </a:rPr>
                      <m:t>S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/>
                      </a:rPr>
                      <m:t>S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/>
                      </a:rPr>
                      <m:t>S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lang="zh-CN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blipFill rotWithShape="1">
                <a:blip r:embed="rId2" cstate="print"/>
                <a:stretch>
                  <a:fillRect l="-1852" t="-1875"/>
                </a:stretch>
              </a:blipFill>
            </p:spPr>
            <p:txBody>
              <a:bodyPr/>
              <a:lstStyle/>
              <a:p>
                <a:r>
                  <a:rPr lang="zh-CN" altLang="en-US" dirty="0">
                    <a:noFill/>
                  </a:rPr>
                  <a:t> </a:t>
                </a:r>
                <a:endParaRPr lang="zh-CN" altLang="en-US" dirty="0">
                  <a:noFill/>
                </a:endParaRP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2845336"/>
            <a:ext cx="7215336" cy="295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955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/>
              </p:nvPr>
            </p:nvSpPr>
            <p:spPr>
              <a:xfrm>
                <a:off x="457200" y="274638"/>
                <a:ext cx="8229600" cy="658336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dirty="0"/>
                  <a:t>根据</a:t>
                </a:r>
                <a:r>
                  <a:rPr lang="en-US" altLang="zh-CN" dirty="0"/>
                  <a:t>Y</a:t>
                </a:r>
                <a:r>
                  <a:rPr lang="zh-CN" altLang="en-US" dirty="0"/>
                  <a:t>的真值表可得：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Y=M1M0AB+M1M0AB+M1M0AB+M1M0AB+M1M0AB+M1M0AB+M1M0AB+M1M0AB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  =M1M0A*0+M1M0A*B+M1M0A*B+M1M0A*1+M1M0A*B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    +M1M0A*B+M1M0A*1+M1M0A*0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74LS151</a:t>
                </a:r>
                <a:r>
                  <a:rPr lang="zh-CN" altLang="en-US" dirty="0"/>
                  <a:t>输出表达式为：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Z=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/>
                          </a:rPr>
                          <m:t>S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altLang="zh-CN">
                            <a:latin typeface="Cambria Math"/>
                          </a:rPr>
                          <m:t>S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>
                            <a:latin typeface="Cambria Math"/>
                          </a:rPr>
                          <m:t>S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0+</m:t>
                    </m:r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/>
                          </a:rPr>
                          <m:t>S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altLang="zh-CN">
                            <a:latin typeface="Cambria Math"/>
                          </a:rPr>
                          <m:t>S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>
                        <a:latin typeface="Cambria Math"/>
                      </a:rPr>
                      <m:t>S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1+</m:t>
                    </m:r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/>
                          </a:rPr>
                          <m:t>S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>
                        <a:latin typeface="Cambria Math"/>
                      </a:rPr>
                      <m:t>S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1</m:t>
                    </m:r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/>
                          </a:rPr>
                          <m:t>S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2+</m:t>
                    </m:r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/>
                          </a:rPr>
                          <m:t>S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>
                        <a:latin typeface="Cambria Math"/>
                      </a:rPr>
                      <m:t>S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US" altLang="zh-CN">
                        <a:latin typeface="Cambria Math"/>
                      </a:rPr>
                      <m:t>S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3+</m:t>
                    </m:r>
                    <m:r>
                      <m:rPr>
                        <m:sty m:val="p"/>
                      </m:rPr>
                      <a:rPr lang="en-US" altLang="zh-CN">
                        <a:latin typeface="Cambria Math"/>
                      </a:rPr>
                      <m:t>S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/>
                          </a:rPr>
                          <m:t>S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>
                            <a:latin typeface="Cambria Math"/>
                          </a:rPr>
                          <m:t>S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4+</m:t>
                    </m:r>
                    <m:r>
                      <m:rPr>
                        <m:sty m:val="p"/>
                      </m:rPr>
                      <a:rPr lang="en-US" altLang="zh-CN">
                        <a:latin typeface="Cambria Math"/>
                      </a:rPr>
                      <m:t>S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/>
                          </a:rPr>
                          <m:t>S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>
                        <a:latin typeface="Cambria Math"/>
                      </a:rPr>
                      <m:t>S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5+</m:t>
                    </m:r>
                    <m:r>
                      <m:rPr>
                        <m:sty m:val="p"/>
                      </m:rPr>
                      <a:rPr lang="en-US" altLang="zh-CN">
                        <a:latin typeface="Cambria Math"/>
                      </a:rPr>
                      <m:t>S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altLang="zh-CN">
                        <a:latin typeface="Cambria Math"/>
                      </a:rPr>
                      <m:t>S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1</m:t>
                    </m:r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/>
                          </a:rPr>
                          <m:t>S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6+</m:t>
                    </m:r>
                    <m:r>
                      <m:rPr>
                        <m:sty m:val="p"/>
                      </m:rPr>
                      <a:rPr lang="en-US" altLang="zh-CN">
                        <a:latin typeface="Cambria Math"/>
                      </a:rPr>
                      <m:t>S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altLang="zh-CN">
                        <a:latin typeface="Cambria Math"/>
                      </a:rPr>
                      <m:t>S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US" altLang="zh-CN">
                        <a:latin typeface="Cambria Math"/>
                      </a:rPr>
                      <m:t>S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lang="zh-CN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将</a:t>
                </a:r>
                <a:r>
                  <a:rPr lang="en-US" altLang="zh-CN" dirty="0"/>
                  <a:t>Y</a:t>
                </a:r>
                <a:r>
                  <a:rPr lang="zh-CN" altLang="en-US" dirty="0"/>
                  <a:t>的输出表达式与与</a:t>
                </a:r>
                <a:r>
                  <a:rPr lang="en-US" altLang="zh-CN" dirty="0"/>
                  <a:t>74LS151</a:t>
                </a:r>
                <a:r>
                  <a:rPr lang="zh-CN" altLang="en-US" dirty="0"/>
                  <a:t>的输出表达式对比得出</a:t>
                </a:r>
                <a:endParaRPr lang="en-US" altLang="zh-CN" dirty="0"/>
              </a:p>
              <a:p>
                <a:pPr marL="0" lvl="0" indent="0">
                  <a:buNone/>
                </a:pPr>
                <a:r>
                  <a:rPr lang="zh-CN" altLang="en-US" dirty="0"/>
                  <a:t>令</a:t>
                </a:r>
                <a:r>
                  <a:rPr lang="en-US" altLang="zh-CN" dirty="0"/>
                  <a:t>S2=M1,S1=M0,S0=A</a:t>
                </a:r>
                <a:r>
                  <a:rPr lang="en-US" altLang="zh-CN" dirty="0">
                    <a:solidFill>
                      <a:prstClr val="black"/>
                    </a:solidFill>
                  </a:rPr>
                  <a:t>, D1=D2=D4=B,D5=B</a:t>
                </a:r>
              </a:p>
              <a:p>
                <a:pPr marL="0" lvl="0" indent="0">
                  <a:buNone/>
                </a:pPr>
                <a:r>
                  <a:rPr lang="zh-CN" altLang="en-US" dirty="0">
                    <a:solidFill>
                      <a:prstClr val="black"/>
                    </a:solidFill>
                  </a:rPr>
                  <a:t>置</a:t>
                </a:r>
                <a:r>
                  <a:rPr lang="en-US" altLang="zh-CN" dirty="0">
                    <a:solidFill>
                      <a:prstClr val="black"/>
                    </a:solidFill>
                  </a:rPr>
                  <a:t>D0,D7=0</a:t>
                </a:r>
                <a:r>
                  <a:rPr lang="zh-CN" altLang="en-US" dirty="0">
                    <a:solidFill>
                      <a:prstClr val="black"/>
                    </a:solidFill>
                  </a:rPr>
                  <a:t>（低电平），</a:t>
                </a:r>
                <a:r>
                  <a:rPr lang="en-US" altLang="zh-CN" dirty="0">
                    <a:solidFill>
                      <a:prstClr val="black"/>
                    </a:solidFill>
                  </a:rPr>
                  <a:t>D3,D6=1</a:t>
                </a:r>
                <a:r>
                  <a:rPr lang="zh-CN" altLang="en-US" dirty="0">
                    <a:solidFill>
                      <a:prstClr val="black"/>
                    </a:solidFill>
                  </a:rPr>
                  <a:t>（高电平）</a:t>
                </a:r>
                <a:endParaRPr lang="en-US" altLang="zh-CN" dirty="0">
                  <a:solidFill>
                    <a:prstClr val="black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CN" dirty="0"/>
                  <a:t> Y=Z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57200" y="274638"/>
                <a:ext cx="8229600" cy="6583362"/>
              </a:xfrm>
              <a:blipFill rotWithShape="0">
                <a:blip r:embed="rId2" cstate="print"/>
                <a:stretch>
                  <a:fillRect l="-1333" t="-1111" r="-667" b="-13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cxnSp>
        <p:nvCxnSpPr>
          <p:cNvPr id="3" name="直接连接符 2"/>
          <p:cNvCxnSpPr/>
          <p:nvPr/>
        </p:nvCxnSpPr>
        <p:spPr>
          <a:xfrm>
            <a:off x="930596" y="766109"/>
            <a:ext cx="28803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1290636" y="766109"/>
            <a:ext cx="257028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3275856" y="766109"/>
            <a:ext cx="257028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2411760" y="766109"/>
            <a:ext cx="257028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3923928" y="766109"/>
            <a:ext cx="257028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5395092" y="766109"/>
            <a:ext cx="257028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932040" y="766109"/>
            <a:ext cx="257028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7699348" y="764704"/>
            <a:ext cx="257028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7267300" y="764704"/>
            <a:ext cx="257028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1650676" y="1196752"/>
            <a:ext cx="257028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971600" y="1196752"/>
            <a:ext cx="257028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2987824" y="1196752"/>
            <a:ext cx="128514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3203848" y="1196752"/>
            <a:ext cx="128514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4386980" y="1196752"/>
            <a:ext cx="257028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6372200" y="5445224"/>
            <a:ext cx="257028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930596" y="1700808"/>
            <a:ext cx="28803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1290636" y="1700808"/>
            <a:ext cx="257028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1722684" y="1700808"/>
            <a:ext cx="257028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2483768" y="1700808"/>
            <a:ext cx="28803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2843808" y="1700808"/>
            <a:ext cx="257028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4891036" y="1700808"/>
            <a:ext cx="257028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4098948" y="1700808"/>
            <a:ext cx="257028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5683124" y="1700808"/>
            <a:ext cx="257028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7987380" y="1700808"/>
            <a:ext cx="257028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7555332" y="1700808"/>
            <a:ext cx="257028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2226740" y="2132856"/>
            <a:ext cx="257028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1475656" y="2132856"/>
            <a:ext cx="257028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3491880" y="2132856"/>
            <a:ext cx="2005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 flipH="1" flipV="1">
            <a:off x="1419150" y="1988840"/>
            <a:ext cx="128514" cy="158417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H="1" flipV="1">
            <a:off x="3332362" y="1988840"/>
            <a:ext cx="200522" cy="158417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H="1" flipV="1">
            <a:off x="4932040" y="1988840"/>
            <a:ext cx="463052" cy="158417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 flipH="1" flipV="1">
            <a:off x="6500714" y="1988840"/>
            <a:ext cx="591566" cy="158417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 flipH="1" flipV="1">
            <a:off x="2123728" y="2492896"/>
            <a:ext cx="928353" cy="151216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 flipH="1" flipV="1">
            <a:off x="3692402" y="2492896"/>
            <a:ext cx="1455662" cy="151216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/>
          <p:nvPr/>
        </p:nvCxnSpPr>
        <p:spPr>
          <a:xfrm flipH="1" flipV="1">
            <a:off x="4891036" y="2492896"/>
            <a:ext cx="2057228" cy="151216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1419150" y="4293096"/>
            <a:ext cx="0" cy="21602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1419150" y="4509120"/>
            <a:ext cx="682525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/>
          <p:nvPr/>
        </p:nvCxnSpPr>
        <p:spPr>
          <a:xfrm flipV="1">
            <a:off x="8244408" y="1988840"/>
            <a:ext cx="0" cy="252028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6103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 txBox="1"/>
          <p:nvPr/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prstClr val="black"/>
                </a:solidFill>
              </a:rPr>
              <a:t>3</a:t>
            </a:r>
            <a:r>
              <a:rPr lang="zh-CN" altLang="en-US" dirty="0">
                <a:solidFill>
                  <a:prstClr val="black"/>
                </a:solidFill>
              </a:rPr>
              <a:t>、静态测试，用“</a:t>
            </a:r>
            <a:r>
              <a:rPr lang="en-US" altLang="zh-CN" dirty="0">
                <a:solidFill>
                  <a:prstClr val="black"/>
                </a:solidFill>
              </a:rPr>
              <a:t>0-1</a:t>
            </a:r>
            <a:r>
              <a:rPr lang="zh-CN" altLang="en-US" dirty="0">
                <a:solidFill>
                  <a:prstClr val="black"/>
                </a:solidFill>
              </a:rPr>
              <a:t>”显示器检查输出是否符合真值表。注意接电源，接地，附加控制端</a:t>
            </a:r>
            <a:r>
              <a:rPr lang="en-US" altLang="zh-CN" dirty="0">
                <a:solidFill>
                  <a:prstClr val="black"/>
                </a:solidFill>
              </a:rPr>
              <a:t>E</a:t>
            </a:r>
            <a:r>
              <a:rPr lang="zh-CN" altLang="en-US" dirty="0">
                <a:solidFill>
                  <a:prstClr val="black"/>
                </a:solidFill>
              </a:rPr>
              <a:t>应接低电平。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dirty="0">
              <a:solidFill>
                <a:prstClr val="black"/>
              </a:solidFill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971600" y="1340768"/>
            <a:ext cx="257028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7664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37"/>
          <p:cNvSpPr txBox="1">
            <a:spLocks noChangeArrowheads="1"/>
          </p:cNvSpPr>
          <p:nvPr/>
        </p:nvSpPr>
        <p:spPr bwMode="auto">
          <a:xfrm>
            <a:off x="179387" y="1055688"/>
            <a:ext cx="7826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prstClr val="black"/>
                </a:solidFill>
              </a:rPr>
              <a:t>CP</a:t>
            </a:r>
          </a:p>
        </p:txBody>
      </p:sp>
      <p:sp>
        <p:nvSpPr>
          <p:cNvPr id="29699" name="Line 4"/>
          <p:cNvSpPr>
            <a:spLocks noChangeShapeType="1"/>
          </p:cNvSpPr>
          <p:nvPr/>
        </p:nvSpPr>
        <p:spPr bwMode="auto">
          <a:xfrm>
            <a:off x="1187450" y="1270000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00" name="Line 5"/>
          <p:cNvSpPr>
            <a:spLocks noChangeShapeType="1"/>
          </p:cNvSpPr>
          <p:nvPr/>
        </p:nvSpPr>
        <p:spPr bwMode="auto">
          <a:xfrm flipV="1">
            <a:off x="1403350" y="982663"/>
            <a:ext cx="0" cy="2889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01" name="Line 6"/>
          <p:cNvSpPr>
            <a:spLocks noChangeShapeType="1"/>
          </p:cNvSpPr>
          <p:nvPr/>
        </p:nvSpPr>
        <p:spPr bwMode="auto">
          <a:xfrm>
            <a:off x="1403350" y="982663"/>
            <a:ext cx="2873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02" name="Line 7"/>
          <p:cNvSpPr>
            <a:spLocks noChangeShapeType="1"/>
          </p:cNvSpPr>
          <p:nvPr/>
        </p:nvSpPr>
        <p:spPr bwMode="auto">
          <a:xfrm>
            <a:off x="1690688" y="982663"/>
            <a:ext cx="0" cy="2889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03" name="Line 8"/>
          <p:cNvSpPr>
            <a:spLocks noChangeShapeType="1"/>
          </p:cNvSpPr>
          <p:nvPr/>
        </p:nvSpPr>
        <p:spPr bwMode="auto">
          <a:xfrm>
            <a:off x="8750300" y="1270000"/>
            <a:ext cx="3587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04" name="Line 32"/>
          <p:cNvSpPr>
            <a:spLocks noChangeShapeType="1"/>
          </p:cNvSpPr>
          <p:nvPr/>
        </p:nvSpPr>
        <p:spPr bwMode="auto">
          <a:xfrm>
            <a:off x="684213" y="1271588"/>
            <a:ext cx="2143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05" name="Line 33"/>
          <p:cNvSpPr>
            <a:spLocks noChangeShapeType="1"/>
          </p:cNvSpPr>
          <p:nvPr/>
        </p:nvSpPr>
        <p:spPr bwMode="auto">
          <a:xfrm flipV="1">
            <a:off x="901700" y="982663"/>
            <a:ext cx="0" cy="2889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06" name="Line 34"/>
          <p:cNvSpPr>
            <a:spLocks noChangeShapeType="1"/>
          </p:cNvSpPr>
          <p:nvPr/>
        </p:nvSpPr>
        <p:spPr bwMode="auto">
          <a:xfrm>
            <a:off x="901700" y="982663"/>
            <a:ext cx="2873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07" name="Line 35"/>
          <p:cNvSpPr>
            <a:spLocks noChangeShapeType="1"/>
          </p:cNvSpPr>
          <p:nvPr/>
        </p:nvSpPr>
        <p:spPr bwMode="auto">
          <a:xfrm>
            <a:off x="1187450" y="982663"/>
            <a:ext cx="0" cy="2889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08" name="Line 38"/>
          <p:cNvSpPr>
            <a:spLocks noChangeShapeType="1"/>
          </p:cNvSpPr>
          <p:nvPr/>
        </p:nvSpPr>
        <p:spPr bwMode="auto">
          <a:xfrm>
            <a:off x="1690688" y="1271588"/>
            <a:ext cx="2143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09" name="Line 39"/>
          <p:cNvSpPr>
            <a:spLocks noChangeShapeType="1"/>
          </p:cNvSpPr>
          <p:nvPr/>
        </p:nvSpPr>
        <p:spPr bwMode="auto">
          <a:xfrm flipV="1">
            <a:off x="1908175" y="982663"/>
            <a:ext cx="0" cy="2889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10" name="Line 40"/>
          <p:cNvSpPr>
            <a:spLocks noChangeShapeType="1"/>
          </p:cNvSpPr>
          <p:nvPr/>
        </p:nvSpPr>
        <p:spPr bwMode="auto">
          <a:xfrm>
            <a:off x="1908175" y="982663"/>
            <a:ext cx="2873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11" name="Line 41"/>
          <p:cNvSpPr>
            <a:spLocks noChangeShapeType="1"/>
          </p:cNvSpPr>
          <p:nvPr/>
        </p:nvSpPr>
        <p:spPr bwMode="auto">
          <a:xfrm>
            <a:off x="2193925" y="982663"/>
            <a:ext cx="0" cy="2889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12" name="Line 42"/>
          <p:cNvSpPr>
            <a:spLocks noChangeShapeType="1"/>
          </p:cNvSpPr>
          <p:nvPr/>
        </p:nvSpPr>
        <p:spPr bwMode="auto">
          <a:xfrm>
            <a:off x="2195513" y="1271588"/>
            <a:ext cx="2143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13" name="Line 43"/>
          <p:cNvSpPr>
            <a:spLocks noChangeShapeType="1"/>
          </p:cNvSpPr>
          <p:nvPr/>
        </p:nvSpPr>
        <p:spPr bwMode="auto">
          <a:xfrm flipV="1">
            <a:off x="2413000" y="982663"/>
            <a:ext cx="0" cy="2889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14" name="Line 44"/>
          <p:cNvSpPr>
            <a:spLocks noChangeShapeType="1"/>
          </p:cNvSpPr>
          <p:nvPr/>
        </p:nvSpPr>
        <p:spPr bwMode="auto">
          <a:xfrm>
            <a:off x="2413000" y="982663"/>
            <a:ext cx="2873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15" name="Line 45"/>
          <p:cNvSpPr>
            <a:spLocks noChangeShapeType="1"/>
          </p:cNvSpPr>
          <p:nvPr/>
        </p:nvSpPr>
        <p:spPr bwMode="auto">
          <a:xfrm>
            <a:off x="2698750" y="982663"/>
            <a:ext cx="0" cy="2889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16" name="Line 46"/>
          <p:cNvSpPr>
            <a:spLocks noChangeShapeType="1"/>
          </p:cNvSpPr>
          <p:nvPr/>
        </p:nvSpPr>
        <p:spPr bwMode="auto">
          <a:xfrm>
            <a:off x="2700338" y="1271588"/>
            <a:ext cx="2143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17" name="Line 47"/>
          <p:cNvSpPr>
            <a:spLocks noChangeShapeType="1"/>
          </p:cNvSpPr>
          <p:nvPr/>
        </p:nvSpPr>
        <p:spPr bwMode="auto">
          <a:xfrm flipV="1">
            <a:off x="2917825" y="982663"/>
            <a:ext cx="0" cy="2889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18" name="Line 48"/>
          <p:cNvSpPr>
            <a:spLocks noChangeShapeType="1"/>
          </p:cNvSpPr>
          <p:nvPr/>
        </p:nvSpPr>
        <p:spPr bwMode="auto">
          <a:xfrm>
            <a:off x="2917825" y="982663"/>
            <a:ext cx="2873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19" name="Line 49"/>
          <p:cNvSpPr>
            <a:spLocks noChangeShapeType="1"/>
          </p:cNvSpPr>
          <p:nvPr/>
        </p:nvSpPr>
        <p:spPr bwMode="auto">
          <a:xfrm>
            <a:off x="3203575" y="982663"/>
            <a:ext cx="0" cy="2889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20" name="Line 50"/>
          <p:cNvSpPr>
            <a:spLocks noChangeShapeType="1"/>
          </p:cNvSpPr>
          <p:nvPr/>
        </p:nvSpPr>
        <p:spPr bwMode="auto">
          <a:xfrm>
            <a:off x="3203575" y="1271588"/>
            <a:ext cx="2143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21" name="Line 51"/>
          <p:cNvSpPr>
            <a:spLocks noChangeShapeType="1"/>
          </p:cNvSpPr>
          <p:nvPr/>
        </p:nvSpPr>
        <p:spPr bwMode="auto">
          <a:xfrm flipV="1">
            <a:off x="3421063" y="982663"/>
            <a:ext cx="0" cy="2889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22" name="Line 52"/>
          <p:cNvSpPr>
            <a:spLocks noChangeShapeType="1"/>
          </p:cNvSpPr>
          <p:nvPr/>
        </p:nvSpPr>
        <p:spPr bwMode="auto">
          <a:xfrm>
            <a:off x="3421063" y="982663"/>
            <a:ext cx="2873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23" name="Line 53"/>
          <p:cNvSpPr>
            <a:spLocks noChangeShapeType="1"/>
          </p:cNvSpPr>
          <p:nvPr/>
        </p:nvSpPr>
        <p:spPr bwMode="auto">
          <a:xfrm>
            <a:off x="3706813" y="982663"/>
            <a:ext cx="0" cy="2889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24" name="Line 54"/>
          <p:cNvSpPr>
            <a:spLocks noChangeShapeType="1"/>
          </p:cNvSpPr>
          <p:nvPr/>
        </p:nvSpPr>
        <p:spPr bwMode="auto">
          <a:xfrm>
            <a:off x="3708400" y="1271588"/>
            <a:ext cx="2143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25" name="Line 55"/>
          <p:cNvSpPr>
            <a:spLocks noChangeShapeType="1"/>
          </p:cNvSpPr>
          <p:nvPr/>
        </p:nvSpPr>
        <p:spPr bwMode="auto">
          <a:xfrm flipV="1">
            <a:off x="3925888" y="982663"/>
            <a:ext cx="0" cy="2889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26" name="Line 56"/>
          <p:cNvSpPr>
            <a:spLocks noChangeShapeType="1"/>
          </p:cNvSpPr>
          <p:nvPr/>
        </p:nvSpPr>
        <p:spPr bwMode="auto">
          <a:xfrm>
            <a:off x="3925888" y="982663"/>
            <a:ext cx="2873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27" name="Line 57"/>
          <p:cNvSpPr>
            <a:spLocks noChangeShapeType="1"/>
          </p:cNvSpPr>
          <p:nvPr/>
        </p:nvSpPr>
        <p:spPr bwMode="auto">
          <a:xfrm>
            <a:off x="4211638" y="982663"/>
            <a:ext cx="0" cy="2889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28" name="Line 58"/>
          <p:cNvSpPr>
            <a:spLocks noChangeShapeType="1"/>
          </p:cNvSpPr>
          <p:nvPr/>
        </p:nvSpPr>
        <p:spPr bwMode="auto">
          <a:xfrm>
            <a:off x="4211638" y="1271588"/>
            <a:ext cx="2143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29" name="Line 59"/>
          <p:cNvSpPr>
            <a:spLocks noChangeShapeType="1"/>
          </p:cNvSpPr>
          <p:nvPr/>
        </p:nvSpPr>
        <p:spPr bwMode="auto">
          <a:xfrm flipV="1">
            <a:off x="4429125" y="982663"/>
            <a:ext cx="0" cy="2889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30" name="Line 60"/>
          <p:cNvSpPr>
            <a:spLocks noChangeShapeType="1"/>
          </p:cNvSpPr>
          <p:nvPr/>
        </p:nvSpPr>
        <p:spPr bwMode="auto">
          <a:xfrm>
            <a:off x="4429125" y="982663"/>
            <a:ext cx="2873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31" name="Line 61"/>
          <p:cNvSpPr>
            <a:spLocks noChangeShapeType="1"/>
          </p:cNvSpPr>
          <p:nvPr/>
        </p:nvSpPr>
        <p:spPr bwMode="auto">
          <a:xfrm>
            <a:off x="4714875" y="982663"/>
            <a:ext cx="0" cy="2889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32" name="Line 62"/>
          <p:cNvSpPr>
            <a:spLocks noChangeShapeType="1"/>
          </p:cNvSpPr>
          <p:nvPr/>
        </p:nvSpPr>
        <p:spPr bwMode="auto">
          <a:xfrm>
            <a:off x="4716463" y="1271588"/>
            <a:ext cx="2143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33" name="Line 63"/>
          <p:cNvSpPr>
            <a:spLocks noChangeShapeType="1"/>
          </p:cNvSpPr>
          <p:nvPr/>
        </p:nvSpPr>
        <p:spPr bwMode="auto">
          <a:xfrm flipV="1">
            <a:off x="4933950" y="982663"/>
            <a:ext cx="0" cy="2889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34" name="Line 64"/>
          <p:cNvSpPr>
            <a:spLocks noChangeShapeType="1"/>
          </p:cNvSpPr>
          <p:nvPr/>
        </p:nvSpPr>
        <p:spPr bwMode="auto">
          <a:xfrm>
            <a:off x="4933950" y="982663"/>
            <a:ext cx="2873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35" name="Line 65"/>
          <p:cNvSpPr>
            <a:spLocks noChangeShapeType="1"/>
          </p:cNvSpPr>
          <p:nvPr/>
        </p:nvSpPr>
        <p:spPr bwMode="auto">
          <a:xfrm>
            <a:off x="5219700" y="982663"/>
            <a:ext cx="0" cy="2889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36" name="Line 66"/>
          <p:cNvSpPr>
            <a:spLocks noChangeShapeType="1"/>
          </p:cNvSpPr>
          <p:nvPr/>
        </p:nvSpPr>
        <p:spPr bwMode="auto">
          <a:xfrm>
            <a:off x="5219700" y="1271588"/>
            <a:ext cx="2143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37" name="Line 67"/>
          <p:cNvSpPr>
            <a:spLocks noChangeShapeType="1"/>
          </p:cNvSpPr>
          <p:nvPr/>
        </p:nvSpPr>
        <p:spPr bwMode="auto">
          <a:xfrm flipV="1">
            <a:off x="5437188" y="982663"/>
            <a:ext cx="0" cy="2889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38" name="Line 68"/>
          <p:cNvSpPr>
            <a:spLocks noChangeShapeType="1"/>
          </p:cNvSpPr>
          <p:nvPr/>
        </p:nvSpPr>
        <p:spPr bwMode="auto">
          <a:xfrm>
            <a:off x="5437188" y="982663"/>
            <a:ext cx="2873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39" name="Line 69"/>
          <p:cNvSpPr>
            <a:spLocks noChangeShapeType="1"/>
          </p:cNvSpPr>
          <p:nvPr/>
        </p:nvSpPr>
        <p:spPr bwMode="auto">
          <a:xfrm>
            <a:off x="5722938" y="982663"/>
            <a:ext cx="0" cy="2889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40" name="Line 70"/>
          <p:cNvSpPr>
            <a:spLocks noChangeShapeType="1"/>
          </p:cNvSpPr>
          <p:nvPr/>
        </p:nvSpPr>
        <p:spPr bwMode="auto">
          <a:xfrm>
            <a:off x="5724525" y="1270000"/>
            <a:ext cx="2143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41" name="Line 71"/>
          <p:cNvSpPr>
            <a:spLocks noChangeShapeType="1"/>
          </p:cNvSpPr>
          <p:nvPr/>
        </p:nvSpPr>
        <p:spPr bwMode="auto">
          <a:xfrm flipV="1">
            <a:off x="5942013" y="981075"/>
            <a:ext cx="0" cy="2889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42" name="Line 72"/>
          <p:cNvSpPr>
            <a:spLocks noChangeShapeType="1"/>
          </p:cNvSpPr>
          <p:nvPr/>
        </p:nvSpPr>
        <p:spPr bwMode="auto">
          <a:xfrm>
            <a:off x="5942013" y="981075"/>
            <a:ext cx="2873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43" name="Line 73"/>
          <p:cNvSpPr>
            <a:spLocks noChangeShapeType="1"/>
          </p:cNvSpPr>
          <p:nvPr/>
        </p:nvSpPr>
        <p:spPr bwMode="auto">
          <a:xfrm>
            <a:off x="6227763" y="981075"/>
            <a:ext cx="0" cy="2889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44" name="Line 74"/>
          <p:cNvSpPr>
            <a:spLocks noChangeShapeType="1"/>
          </p:cNvSpPr>
          <p:nvPr/>
        </p:nvSpPr>
        <p:spPr bwMode="auto">
          <a:xfrm>
            <a:off x="6227763" y="1271588"/>
            <a:ext cx="2143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45" name="Line 75"/>
          <p:cNvSpPr>
            <a:spLocks noChangeShapeType="1"/>
          </p:cNvSpPr>
          <p:nvPr/>
        </p:nvSpPr>
        <p:spPr bwMode="auto">
          <a:xfrm flipV="1">
            <a:off x="6445250" y="982663"/>
            <a:ext cx="0" cy="2889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46" name="Line 76"/>
          <p:cNvSpPr>
            <a:spLocks noChangeShapeType="1"/>
          </p:cNvSpPr>
          <p:nvPr/>
        </p:nvSpPr>
        <p:spPr bwMode="auto">
          <a:xfrm>
            <a:off x="6445250" y="982663"/>
            <a:ext cx="2873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47" name="Line 77"/>
          <p:cNvSpPr>
            <a:spLocks noChangeShapeType="1"/>
          </p:cNvSpPr>
          <p:nvPr/>
        </p:nvSpPr>
        <p:spPr bwMode="auto">
          <a:xfrm>
            <a:off x="6731000" y="982663"/>
            <a:ext cx="0" cy="2889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48" name="Line 78"/>
          <p:cNvSpPr>
            <a:spLocks noChangeShapeType="1"/>
          </p:cNvSpPr>
          <p:nvPr/>
        </p:nvSpPr>
        <p:spPr bwMode="auto">
          <a:xfrm>
            <a:off x="6731000" y="1271588"/>
            <a:ext cx="2143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49" name="Line 79"/>
          <p:cNvSpPr>
            <a:spLocks noChangeShapeType="1"/>
          </p:cNvSpPr>
          <p:nvPr/>
        </p:nvSpPr>
        <p:spPr bwMode="auto">
          <a:xfrm flipV="1">
            <a:off x="6948488" y="982663"/>
            <a:ext cx="0" cy="2889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50" name="Line 80"/>
          <p:cNvSpPr>
            <a:spLocks noChangeShapeType="1"/>
          </p:cNvSpPr>
          <p:nvPr/>
        </p:nvSpPr>
        <p:spPr bwMode="auto">
          <a:xfrm>
            <a:off x="6948488" y="982663"/>
            <a:ext cx="2873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51" name="Line 81"/>
          <p:cNvSpPr>
            <a:spLocks noChangeShapeType="1"/>
          </p:cNvSpPr>
          <p:nvPr/>
        </p:nvSpPr>
        <p:spPr bwMode="auto">
          <a:xfrm>
            <a:off x="7234238" y="982663"/>
            <a:ext cx="0" cy="2889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52" name="Line 82"/>
          <p:cNvSpPr>
            <a:spLocks noChangeShapeType="1"/>
          </p:cNvSpPr>
          <p:nvPr/>
        </p:nvSpPr>
        <p:spPr bwMode="auto">
          <a:xfrm>
            <a:off x="7235825" y="1271588"/>
            <a:ext cx="2143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53" name="Line 83"/>
          <p:cNvSpPr>
            <a:spLocks noChangeShapeType="1"/>
          </p:cNvSpPr>
          <p:nvPr/>
        </p:nvSpPr>
        <p:spPr bwMode="auto">
          <a:xfrm flipV="1">
            <a:off x="7453313" y="982663"/>
            <a:ext cx="0" cy="2889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54" name="Line 84"/>
          <p:cNvSpPr>
            <a:spLocks noChangeShapeType="1"/>
          </p:cNvSpPr>
          <p:nvPr/>
        </p:nvSpPr>
        <p:spPr bwMode="auto">
          <a:xfrm>
            <a:off x="7453313" y="982663"/>
            <a:ext cx="2873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55" name="Line 85"/>
          <p:cNvSpPr>
            <a:spLocks noChangeShapeType="1"/>
          </p:cNvSpPr>
          <p:nvPr/>
        </p:nvSpPr>
        <p:spPr bwMode="auto">
          <a:xfrm>
            <a:off x="7739063" y="982663"/>
            <a:ext cx="0" cy="2889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56" name="Line 86"/>
          <p:cNvSpPr>
            <a:spLocks noChangeShapeType="1"/>
          </p:cNvSpPr>
          <p:nvPr/>
        </p:nvSpPr>
        <p:spPr bwMode="auto">
          <a:xfrm>
            <a:off x="7740650" y="1271588"/>
            <a:ext cx="2143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57" name="Line 87"/>
          <p:cNvSpPr>
            <a:spLocks noChangeShapeType="1"/>
          </p:cNvSpPr>
          <p:nvPr/>
        </p:nvSpPr>
        <p:spPr bwMode="auto">
          <a:xfrm flipV="1">
            <a:off x="7958138" y="982663"/>
            <a:ext cx="0" cy="2889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58" name="Line 88"/>
          <p:cNvSpPr>
            <a:spLocks noChangeShapeType="1"/>
          </p:cNvSpPr>
          <p:nvPr/>
        </p:nvSpPr>
        <p:spPr bwMode="auto">
          <a:xfrm>
            <a:off x="7958138" y="982663"/>
            <a:ext cx="2873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59" name="Line 89"/>
          <p:cNvSpPr>
            <a:spLocks noChangeShapeType="1"/>
          </p:cNvSpPr>
          <p:nvPr/>
        </p:nvSpPr>
        <p:spPr bwMode="auto">
          <a:xfrm>
            <a:off x="8243888" y="982663"/>
            <a:ext cx="0" cy="2889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60" name="Line 91"/>
          <p:cNvSpPr>
            <a:spLocks noChangeShapeType="1"/>
          </p:cNvSpPr>
          <p:nvPr/>
        </p:nvSpPr>
        <p:spPr bwMode="auto">
          <a:xfrm>
            <a:off x="1187450" y="1127125"/>
            <a:ext cx="0" cy="58324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61" name="Line 92"/>
          <p:cNvSpPr>
            <a:spLocks noChangeShapeType="1"/>
          </p:cNvSpPr>
          <p:nvPr/>
        </p:nvSpPr>
        <p:spPr bwMode="auto">
          <a:xfrm>
            <a:off x="1692275" y="1198563"/>
            <a:ext cx="0" cy="58324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62" name="Line 93"/>
          <p:cNvSpPr>
            <a:spLocks noChangeShapeType="1"/>
          </p:cNvSpPr>
          <p:nvPr/>
        </p:nvSpPr>
        <p:spPr bwMode="auto">
          <a:xfrm>
            <a:off x="2195513" y="1270000"/>
            <a:ext cx="0" cy="58324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63" name="Line 94"/>
          <p:cNvSpPr>
            <a:spLocks noChangeShapeType="1"/>
          </p:cNvSpPr>
          <p:nvPr/>
        </p:nvSpPr>
        <p:spPr bwMode="auto">
          <a:xfrm>
            <a:off x="2700338" y="1270000"/>
            <a:ext cx="0" cy="58324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64" name="Line 95"/>
          <p:cNvSpPr>
            <a:spLocks noChangeShapeType="1"/>
          </p:cNvSpPr>
          <p:nvPr/>
        </p:nvSpPr>
        <p:spPr bwMode="auto">
          <a:xfrm>
            <a:off x="3203575" y="1127125"/>
            <a:ext cx="0" cy="58324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65" name="Line 96"/>
          <p:cNvSpPr>
            <a:spLocks noChangeShapeType="1"/>
          </p:cNvSpPr>
          <p:nvPr/>
        </p:nvSpPr>
        <p:spPr bwMode="auto">
          <a:xfrm>
            <a:off x="3708400" y="1198563"/>
            <a:ext cx="0" cy="58324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66" name="Line 97"/>
          <p:cNvSpPr>
            <a:spLocks noChangeShapeType="1"/>
          </p:cNvSpPr>
          <p:nvPr/>
        </p:nvSpPr>
        <p:spPr bwMode="auto">
          <a:xfrm>
            <a:off x="4211638" y="1270000"/>
            <a:ext cx="0" cy="58324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67" name="Line 98"/>
          <p:cNvSpPr>
            <a:spLocks noChangeShapeType="1"/>
          </p:cNvSpPr>
          <p:nvPr/>
        </p:nvSpPr>
        <p:spPr bwMode="auto">
          <a:xfrm>
            <a:off x="4716463" y="1270000"/>
            <a:ext cx="0" cy="58324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68" name="Line 99"/>
          <p:cNvSpPr>
            <a:spLocks noChangeShapeType="1"/>
          </p:cNvSpPr>
          <p:nvPr/>
        </p:nvSpPr>
        <p:spPr bwMode="auto">
          <a:xfrm>
            <a:off x="5219700" y="1198563"/>
            <a:ext cx="0" cy="58324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69" name="Line 100"/>
          <p:cNvSpPr>
            <a:spLocks noChangeShapeType="1"/>
          </p:cNvSpPr>
          <p:nvPr/>
        </p:nvSpPr>
        <p:spPr bwMode="auto">
          <a:xfrm>
            <a:off x="5724525" y="1270000"/>
            <a:ext cx="0" cy="58324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70" name="Line 101"/>
          <p:cNvSpPr>
            <a:spLocks noChangeShapeType="1"/>
          </p:cNvSpPr>
          <p:nvPr/>
        </p:nvSpPr>
        <p:spPr bwMode="auto">
          <a:xfrm>
            <a:off x="6227763" y="1341438"/>
            <a:ext cx="0" cy="58324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71" name="Line 102"/>
          <p:cNvSpPr>
            <a:spLocks noChangeShapeType="1"/>
          </p:cNvSpPr>
          <p:nvPr/>
        </p:nvSpPr>
        <p:spPr bwMode="auto">
          <a:xfrm>
            <a:off x="6732588" y="1341438"/>
            <a:ext cx="0" cy="58324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72" name="Line 103"/>
          <p:cNvSpPr>
            <a:spLocks noChangeShapeType="1"/>
          </p:cNvSpPr>
          <p:nvPr/>
        </p:nvSpPr>
        <p:spPr bwMode="auto">
          <a:xfrm>
            <a:off x="7235825" y="1198563"/>
            <a:ext cx="0" cy="58324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73" name="Line 104"/>
          <p:cNvSpPr>
            <a:spLocks noChangeShapeType="1"/>
          </p:cNvSpPr>
          <p:nvPr/>
        </p:nvSpPr>
        <p:spPr bwMode="auto">
          <a:xfrm>
            <a:off x="7740650" y="1270000"/>
            <a:ext cx="0" cy="58324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74" name="Line 105"/>
          <p:cNvSpPr>
            <a:spLocks noChangeShapeType="1"/>
          </p:cNvSpPr>
          <p:nvPr/>
        </p:nvSpPr>
        <p:spPr bwMode="auto">
          <a:xfrm>
            <a:off x="8243888" y="1270000"/>
            <a:ext cx="0" cy="58324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75" name="Line 107"/>
          <p:cNvSpPr>
            <a:spLocks noChangeShapeType="1"/>
          </p:cNvSpPr>
          <p:nvPr/>
        </p:nvSpPr>
        <p:spPr bwMode="auto">
          <a:xfrm>
            <a:off x="611188" y="2135188"/>
            <a:ext cx="5746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76" name="Line 108"/>
          <p:cNvSpPr>
            <a:spLocks noChangeShapeType="1"/>
          </p:cNvSpPr>
          <p:nvPr/>
        </p:nvSpPr>
        <p:spPr bwMode="auto">
          <a:xfrm>
            <a:off x="1185863" y="1630363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77" name="Line 109"/>
          <p:cNvSpPr>
            <a:spLocks noChangeShapeType="1"/>
          </p:cNvSpPr>
          <p:nvPr/>
        </p:nvSpPr>
        <p:spPr bwMode="auto">
          <a:xfrm>
            <a:off x="1185863" y="1630363"/>
            <a:ext cx="5064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78" name="Line 110"/>
          <p:cNvSpPr>
            <a:spLocks noChangeShapeType="1"/>
          </p:cNvSpPr>
          <p:nvPr/>
        </p:nvSpPr>
        <p:spPr bwMode="auto">
          <a:xfrm>
            <a:off x="1692275" y="1630363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79" name="Line 127"/>
          <p:cNvSpPr>
            <a:spLocks noChangeShapeType="1"/>
          </p:cNvSpPr>
          <p:nvPr/>
        </p:nvSpPr>
        <p:spPr bwMode="auto">
          <a:xfrm>
            <a:off x="1692275" y="2135188"/>
            <a:ext cx="501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80" name="Line 128"/>
          <p:cNvSpPr>
            <a:spLocks noChangeShapeType="1"/>
          </p:cNvSpPr>
          <p:nvPr/>
        </p:nvSpPr>
        <p:spPr bwMode="auto">
          <a:xfrm>
            <a:off x="2193925" y="1630363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81" name="Line 129"/>
          <p:cNvSpPr>
            <a:spLocks noChangeShapeType="1"/>
          </p:cNvSpPr>
          <p:nvPr/>
        </p:nvSpPr>
        <p:spPr bwMode="auto">
          <a:xfrm>
            <a:off x="2193925" y="1630363"/>
            <a:ext cx="5064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82" name="Line 130"/>
          <p:cNvSpPr>
            <a:spLocks noChangeShapeType="1"/>
          </p:cNvSpPr>
          <p:nvPr/>
        </p:nvSpPr>
        <p:spPr bwMode="auto">
          <a:xfrm>
            <a:off x="2700338" y="1630363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83" name="Line 131"/>
          <p:cNvSpPr>
            <a:spLocks noChangeShapeType="1"/>
          </p:cNvSpPr>
          <p:nvPr/>
        </p:nvSpPr>
        <p:spPr bwMode="auto">
          <a:xfrm>
            <a:off x="2700338" y="2135188"/>
            <a:ext cx="501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84" name="Line 132"/>
          <p:cNvSpPr>
            <a:spLocks noChangeShapeType="1"/>
          </p:cNvSpPr>
          <p:nvPr/>
        </p:nvSpPr>
        <p:spPr bwMode="auto">
          <a:xfrm>
            <a:off x="3201988" y="1630363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85" name="Line 133"/>
          <p:cNvSpPr>
            <a:spLocks noChangeShapeType="1"/>
          </p:cNvSpPr>
          <p:nvPr/>
        </p:nvSpPr>
        <p:spPr bwMode="auto">
          <a:xfrm>
            <a:off x="3201988" y="1630363"/>
            <a:ext cx="5064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86" name="Line 134"/>
          <p:cNvSpPr>
            <a:spLocks noChangeShapeType="1"/>
          </p:cNvSpPr>
          <p:nvPr/>
        </p:nvSpPr>
        <p:spPr bwMode="auto">
          <a:xfrm>
            <a:off x="3708400" y="1630363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87" name="Line 135"/>
          <p:cNvSpPr>
            <a:spLocks noChangeShapeType="1"/>
          </p:cNvSpPr>
          <p:nvPr/>
        </p:nvSpPr>
        <p:spPr bwMode="auto">
          <a:xfrm>
            <a:off x="3708400" y="2135188"/>
            <a:ext cx="501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88" name="Line 136"/>
          <p:cNvSpPr>
            <a:spLocks noChangeShapeType="1"/>
          </p:cNvSpPr>
          <p:nvPr/>
        </p:nvSpPr>
        <p:spPr bwMode="auto">
          <a:xfrm>
            <a:off x="4210050" y="1630363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89" name="Line 137"/>
          <p:cNvSpPr>
            <a:spLocks noChangeShapeType="1"/>
          </p:cNvSpPr>
          <p:nvPr/>
        </p:nvSpPr>
        <p:spPr bwMode="auto">
          <a:xfrm>
            <a:off x="4210050" y="1630363"/>
            <a:ext cx="5064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90" name="Line 138"/>
          <p:cNvSpPr>
            <a:spLocks noChangeShapeType="1"/>
          </p:cNvSpPr>
          <p:nvPr/>
        </p:nvSpPr>
        <p:spPr bwMode="auto">
          <a:xfrm>
            <a:off x="4716463" y="1630363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91" name="Line 139"/>
          <p:cNvSpPr>
            <a:spLocks noChangeShapeType="1"/>
          </p:cNvSpPr>
          <p:nvPr/>
        </p:nvSpPr>
        <p:spPr bwMode="auto">
          <a:xfrm>
            <a:off x="4716463" y="2135188"/>
            <a:ext cx="501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92" name="Line 140"/>
          <p:cNvSpPr>
            <a:spLocks noChangeShapeType="1"/>
          </p:cNvSpPr>
          <p:nvPr/>
        </p:nvSpPr>
        <p:spPr bwMode="auto">
          <a:xfrm>
            <a:off x="5218113" y="1630363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93" name="Line 141"/>
          <p:cNvSpPr>
            <a:spLocks noChangeShapeType="1"/>
          </p:cNvSpPr>
          <p:nvPr/>
        </p:nvSpPr>
        <p:spPr bwMode="auto">
          <a:xfrm>
            <a:off x="5218113" y="1630363"/>
            <a:ext cx="5064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94" name="Line 142"/>
          <p:cNvSpPr>
            <a:spLocks noChangeShapeType="1"/>
          </p:cNvSpPr>
          <p:nvPr/>
        </p:nvSpPr>
        <p:spPr bwMode="auto">
          <a:xfrm>
            <a:off x="5724525" y="1630363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95" name="Line 143"/>
          <p:cNvSpPr>
            <a:spLocks noChangeShapeType="1"/>
          </p:cNvSpPr>
          <p:nvPr/>
        </p:nvSpPr>
        <p:spPr bwMode="auto">
          <a:xfrm>
            <a:off x="5724525" y="2135188"/>
            <a:ext cx="501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96" name="Line 144"/>
          <p:cNvSpPr>
            <a:spLocks noChangeShapeType="1"/>
          </p:cNvSpPr>
          <p:nvPr/>
        </p:nvSpPr>
        <p:spPr bwMode="auto">
          <a:xfrm>
            <a:off x="6226175" y="1630363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97" name="Line 145"/>
          <p:cNvSpPr>
            <a:spLocks noChangeShapeType="1"/>
          </p:cNvSpPr>
          <p:nvPr/>
        </p:nvSpPr>
        <p:spPr bwMode="auto">
          <a:xfrm>
            <a:off x="6226175" y="1630363"/>
            <a:ext cx="5064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98" name="Line 146"/>
          <p:cNvSpPr>
            <a:spLocks noChangeShapeType="1"/>
          </p:cNvSpPr>
          <p:nvPr/>
        </p:nvSpPr>
        <p:spPr bwMode="auto">
          <a:xfrm>
            <a:off x="6732588" y="1630363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799" name="Line 147"/>
          <p:cNvSpPr>
            <a:spLocks noChangeShapeType="1"/>
          </p:cNvSpPr>
          <p:nvPr/>
        </p:nvSpPr>
        <p:spPr bwMode="auto">
          <a:xfrm>
            <a:off x="6732588" y="2135188"/>
            <a:ext cx="501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00" name="Line 148"/>
          <p:cNvSpPr>
            <a:spLocks noChangeShapeType="1"/>
          </p:cNvSpPr>
          <p:nvPr/>
        </p:nvSpPr>
        <p:spPr bwMode="auto">
          <a:xfrm>
            <a:off x="7234238" y="1630363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01" name="Line 149"/>
          <p:cNvSpPr>
            <a:spLocks noChangeShapeType="1"/>
          </p:cNvSpPr>
          <p:nvPr/>
        </p:nvSpPr>
        <p:spPr bwMode="auto">
          <a:xfrm>
            <a:off x="7234238" y="1630363"/>
            <a:ext cx="5064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02" name="Line 150"/>
          <p:cNvSpPr>
            <a:spLocks noChangeShapeType="1"/>
          </p:cNvSpPr>
          <p:nvPr/>
        </p:nvSpPr>
        <p:spPr bwMode="auto">
          <a:xfrm>
            <a:off x="7740650" y="1630363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03" name="Line 151"/>
          <p:cNvSpPr>
            <a:spLocks noChangeShapeType="1"/>
          </p:cNvSpPr>
          <p:nvPr/>
        </p:nvSpPr>
        <p:spPr bwMode="auto">
          <a:xfrm>
            <a:off x="7740650" y="2135188"/>
            <a:ext cx="501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04" name="Line 152"/>
          <p:cNvSpPr>
            <a:spLocks noChangeShapeType="1"/>
          </p:cNvSpPr>
          <p:nvPr/>
        </p:nvSpPr>
        <p:spPr bwMode="auto">
          <a:xfrm>
            <a:off x="8242300" y="1630363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05" name="Line 153"/>
          <p:cNvSpPr>
            <a:spLocks noChangeShapeType="1"/>
          </p:cNvSpPr>
          <p:nvPr/>
        </p:nvSpPr>
        <p:spPr bwMode="auto">
          <a:xfrm>
            <a:off x="8242300" y="1630363"/>
            <a:ext cx="5064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06" name="Line 155"/>
          <p:cNvSpPr>
            <a:spLocks noChangeShapeType="1"/>
          </p:cNvSpPr>
          <p:nvPr/>
        </p:nvSpPr>
        <p:spPr bwMode="auto">
          <a:xfrm>
            <a:off x="8243888" y="1271588"/>
            <a:ext cx="2143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07" name="Line 156"/>
          <p:cNvSpPr>
            <a:spLocks noChangeShapeType="1"/>
          </p:cNvSpPr>
          <p:nvPr/>
        </p:nvSpPr>
        <p:spPr bwMode="auto">
          <a:xfrm flipV="1">
            <a:off x="8461375" y="982663"/>
            <a:ext cx="0" cy="2889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08" name="Line 157"/>
          <p:cNvSpPr>
            <a:spLocks noChangeShapeType="1"/>
          </p:cNvSpPr>
          <p:nvPr/>
        </p:nvSpPr>
        <p:spPr bwMode="auto">
          <a:xfrm>
            <a:off x="8461375" y="982663"/>
            <a:ext cx="2873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09" name="Line 158"/>
          <p:cNvSpPr>
            <a:spLocks noChangeShapeType="1"/>
          </p:cNvSpPr>
          <p:nvPr/>
        </p:nvSpPr>
        <p:spPr bwMode="auto">
          <a:xfrm>
            <a:off x="8747125" y="982663"/>
            <a:ext cx="0" cy="2889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10" name="Line 159"/>
          <p:cNvSpPr>
            <a:spLocks noChangeShapeType="1"/>
          </p:cNvSpPr>
          <p:nvPr/>
        </p:nvSpPr>
        <p:spPr bwMode="auto">
          <a:xfrm>
            <a:off x="8750300" y="1630363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11" name="Line 160"/>
          <p:cNvSpPr>
            <a:spLocks noChangeShapeType="1"/>
          </p:cNvSpPr>
          <p:nvPr/>
        </p:nvSpPr>
        <p:spPr bwMode="auto">
          <a:xfrm>
            <a:off x="8750300" y="2135188"/>
            <a:ext cx="3937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12" name="Line 161"/>
          <p:cNvSpPr>
            <a:spLocks noChangeShapeType="1"/>
          </p:cNvSpPr>
          <p:nvPr/>
        </p:nvSpPr>
        <p:spPr bwMode="auto">
          <a:xfrm flipV="1">
            <a:off x="468313" y="2998788"/>
            <a:ext cx="1223962" cy="15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13" name="Line 162"/>
          <p:cNvSpPr>
            <a:spLocks noChangeShapeType="1"/>
          </p:cNvSpPr>
          <p:nvPr/>
        </p:nvSpPr>
        <p:spPr bwMode="auto">
          <a:xfrm>
            <a:off x="1692275" y="2495550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14" name="Line 163"/>
          <p:cNvSpPr>
            <a:spLocks noChangeShapeType="1"/>
          </p:cNvSpPr>
          <p:nvPr/>
        </p:nvSpPr>
        <p:spPr bwMode="auto">
          <a:xfrm flipV="1">
            <a:off x="1692275" y="2493963"/>
            <a:ext cx="1008063" cy="15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15" name="Line 164"/>
          <p:cNvSpPr>
            <a:spLocks noChangeShapeType="1"/>
          </p:cNvSpPr>
          <p:nvPr/>
        </p:nvSpPr>
        <p:spPr bwMode="auto">
          <a:xfrm>
            <a:off x="2700338" y="2493963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16" name="Line 165"/>
          <p:cNvSpPr>
            <a:spLocks noChangeShapeType="1"/>
          </p:cNvSpPr>
          <p:nvPr/>
        </p:nvSpPr>
        <p:spPr bwMode="auto">
          <a:xfrm flipV="1">
            <a:off x="2700338" y="2998788"/>
            <a:ext cx="10080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17" name="Line 166"/>
          <p:cNvSpPr>
            <a:spLocks noChangeShapeType="1"/>
          </p:cNvSpPr>
          <p:nvPr/>
        </p:nvSpPr>
        <p:spPr bwMode="auto">
          <a:xfrm>
            <a:off x="3708400" y="2495550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18" name="Line 167"/>
          <p:cNvSpPr>
            <a:spLocks noChangeShapeType="1"/>
          </p:cNvSpPr>
          <p:nvPr/>
        </p:nvSpPr>
        <p:spPr bwMode="auto">
          <a:xfrm flipV="1">
            <a:off x="3708400" y="2493963"/>
            <a:ext cx="1008063" cy="15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19" name="Line 168"/>
          <p:cNvSpPr>
            <a:spLocks noChangeShapeType="1"/>
          </p:cNvSpPr>
          <p:nvPr/>
        </p:nvSpPr>
        <p:spPr bwMode="auto">
          <a:xfrm>
            <a:off x="4716463" y="2493963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20" name="Line 169"/>
          <p:cNvSpPr>
            <a:spLocks noChangeShapeType="1"/>
          </p:cNvSpPr>
          <p:nvPr/>
        </p:nvSpPr>
        <p:spPr bwMode="auto">
          <a:xfrm flipV="1">
            <a:off x="4716463" y="2998788"/>
            <a:ext cx="10080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21" name="Line 170"/>
          <p:cNvSpPr>
            <a:spLocks noChangeShapeType="1"/>
          </p:cNvSpPr>
          <p:nvPr/>
        </p:nvSpPr>
        <p:spPr bwMode="auto">
          <a:xfrm>
            <a:off x="5724525" y="2495550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22" name="Line 171"/>
          <p:cNvSpPr>
            <a:spLocks noChangeShapeType="1"/>
          </p:cNvSpPr>
          <p:nvPr/>
        </p:nvSpPr>
        <p:spPr bwMode="auto">
          <a:xfrm flipV="1">
            <a:off x="5724525" y="2493963"/>
            <a:ext cx="1008063" cy="15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23" name="Line 172"/>
          <p:cNvSpPr>
            <a:spLocks noChangeShapeType="1"/>
          </p:cNvSpPr>
          <p:nvPr/>
        </p:nvSpPr>
        <p:spPr bwMode="auto">
          <a:xfrm>
            <a:off x="6732588" y="2493963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24" name="Line 173"/>
          <p:cNvSpPr>
            <a:spLocks noChangeShapeType="1"/>
          </p:cNvSpPr>
          <p:nvPr/>
        </p:nvSpPr>
        <p:spPr bwMode="auto">
          <a:xfrm flipV="1">
            <a:off x="6732588" y="2998788"/>
            <a:ext cx="10080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25" name="Line 174"/>
          <p:cNvSpPr>
            <a:spLocks noChangeShapeType="1"/>
          </p:cNvSpPr>
          <p:nvPr/>
        </p:nvSpPr>
        <p:spPr bwMode="auto">
          <a:xfrm>
            <a:off x="7740650" y="2495550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26" name="Line 175"/>
          <p:cNvSpPr>
            <a:spLocks noChangeShapeType="1"/>
          </p:cNvSpPr>
          <p:nvPr/>
        </p:nvSpPr>
        <p:spPr bwMode="auto">
          <a:xfrm flipV="1">
            <a:off x="7740650" y="2493963"/>
            <a:ext cx="1008063" cy="15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27" name="Line 176"/>
          <p:cNvSpPr>
            <a:spLocks noChangeShapeType="1"/>
          </p:cNvSpPr>
          <p:nvPr/>
        </p:nvSpPr>
        <p:spPr bwMode="auto">
          <a:xfrm>
            <a:off x="8748713" y="2493963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28" name="Line 177"/>
          <p:cNvSpPr>
            <a:spLocks noChangeShapeType="1"/>
          </p:cNvSpPr>
          <p:nvPr/>
        </p:nvSpPr>
        <p:spPr bwMode="auto">
          <a:xfrm>
            <a:off x="8748713" y="2997200"/>
            <a:ext cx="395287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29" name="Line 178"/>
          <p:cNvSpPr>
            <a:spLocks noChangeShapeType="1"/>
          </p:cNvSpPr>
          <p:nvPr/>
        </p:nvSpPr>
        <p:spPr bwMode="auto">
          <a:xfrm flipV="1">
            <a:off x="468313" y="4005263"/>
            <a:ext cx="2232025" cy="15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30" name="Line 179"/>
          <p:cNvSpPr>
            <a:spLocks noChangeShapeType="1"/>
          </p:cNvSpPr>
          <p:nvPr/>
        </p:nvSpPr>
        <p:spPr bwMode="auto">
          <a:xfrm>
            <a:off x="2700338" y="3500438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31" name="Line 180"/>
          <p:cNvSpPr>
            <a:spLocks noChangeShapeType="1"/>
          </p:cNvSpPr>
          <p:nvPr/>
        </p:nvSpPr>
        <p:spPr bwMode="auto">
          <a:xfrm flipV="1">
            <a:off x="2700338" y="3502025"/>
            <a:ext cx="20161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32" name="Line 181"/>
          <p:cNvSpPr>
            <a:spLocks noChangeShapeType="1"/>
          </p:cNvSpPr>
          <p:nvPr/>
        </p:nvSpPr>
        <p:spPr bwMode="auto">
          <a:xfrm>
            <a:off x="4716463" y="3502025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33" name="Line 182"/>
          <p:cNvSpPr>
            <a:spLocks noChangeShapeType="1"/>
          </p:cNvSpPr>
          <p:nvPr/>
        </p:nvSpPr>
        <p:spPr bwMode="auto">
          <a:xfrm flipV="1">
            <a:off x="4716463" y="4006850"/>
            <a:ext cx="20161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34" name="Line 183"/>
          <p:cNvSpPr>
            <a:spLocks noChangeShapeType="1"/>
          </p:cNvSpPr>
          <p:nvPr/>
        </p:nvSpPr>
        <p:spPr bwMode="auto">
          <a:xfrm>
            <a:off x="6732588" y="3502025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35" name="Line 184"/>
          <p:cNvSpPr>
            <a:spLocks noChangeShapeType="1"/>
          </p:cNvSpPr>
          <p:nvPr/>
        </p:nvSpPr>
        <p:spPr bwMode="auto">
          <a:xfrm flipV="1">
            <a:off x="6732588" y="3503613"/>
            <a:ext cx="20161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36" name="Line 185"/>
          <p:cNvSpPr>
            <a:spLocks noChangeShapeType="1"/>
          </p:cNvSpPr>
          <p:nvPr/>
        </p:nvSpPr>
        <p:spPr bwMode="auto">
          <a:xfrm>
            <a:off x="8748713" y="3503613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37" name="Line 186"/>
          <p:cNvSpPr>
            <a:spLocks noChangeShapeType="1"/>
          </p:cNvSpPr>
          <p:nvPr/>
        </p:nvSpPr>
        <p:spPr bwMode="auto">
          <a:xfrm>
            <a:off x="8750300" y="4006850"/>
            <a:ext cx="3937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38" name="Line 187"/>
          <p:cNvSpPr>
            <a:spLocks noChangeShapeType="1"/>
          </p:cNvSpPr>
          <p:nvPr/>
        </p:nvSpPr>
        <p:spPr bwMode="auto">
          <a:xfrm flipV="1">
            <a:off x="468313" y="5086350"/>
            <a:ext cx="42481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39" name="Line 188"/>
          <p:cNvSpPr>
            <a:spLocks noChangeShapeType="1"/>
          </p:cNvSpPr>
          <p:nvPr/>
        </p:nvSpPr>
        <p:spPr bwMode="auto">
          <a:xfrm>
            <a:off x="4716463" y="4583113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40" name="Line 189"/>
          <p:cNvSpPr>
            <a:spLocks noChangeShapeType="1"/>
          </p:cNvSpPr>
          <p:nvPr/>
        </p:nvSpPr>
        <p:spPr bwMode="auto">
          <a:xfrm flipV="1">
            <a:off x="4716463" y="4510088"/>
            <a:ext cx="4032250" cy="730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41" name="Line 190"/>
          <p:cNvSpPr>
            <a:spLocks noChangeShapeType="1"/>
          </p:cNvSpPr>
          <p:nvPr/>
        </p:nvSpPr>
        <p:spPr bwMode="auto">
          <a:xfrm>
            <a:off x="8748713" y="4510088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42" name="Line 191"/>
          <p:cNvSpPr>
            <a:spLocks noChangeShapeType="1"/>
          </p:cNvSpPr>
          <p:nvPr/>
        </p:nvSpPr>
        <p:spPr bwMode="auto">
          <a:xfrm>
            <a:off x="8750300" y="5014913"/>
            <a:ext cx="3937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43" name="Rectangle 192"/>
          <p:cNvSpPr>
            <a:spLocks noChangeArrowheads="1"/>
          </p:cNvSpPr>
          <p:nvPr/>
        </p:nvSpPr>
        <p:spPr bwMode="auto">
          <a:xfrm>
            <a:off x="0" y="1558925"/>
            <a:ext cx="962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prstClr val="black"/>
                </a:solidFill>
              </a:rPr>
              <a:t>B(Q</a:t>
            </a:r>
            <a:r>
              <a:rPr lang="en-US" altLang="zh-CN" baseline="-25000">
                <a:solidFill>
                  <a:prstClr val="black"/>
                </a:solidFill>
              </a:rPr>
              <a:t>0</a:t>
            </a:r>
            <a:r>
              <a:rPr lang="en-US" altLang="zh-CN">
                <a:solidFill>
                  <a:prstClr val="black"/>
                </a:solidFill>
              </a:rPr>
              <a:t>)</a:t>
            </a:r>
            <a:endParaRPr lang="en-US" altLang="zh-CN" baseline="-25000" dirty="0">
              <a:solidFill>
                <a:prstClr val="black"/>
              </a:solidFill>
            </a:endParaRPr>
          </a:p>
        </p:txBody>
      </p:sp>
      <p:sp>
        <p:nvSpPr>
          <p:cNvPr id="29844" name="Rectangle 193"/>
          <p:cNvSpPr>
            <a:spLocks noChangeArrowheads="1"/>
          </p:cNvSpPr>
          <p:nvPr/>
        </p:nvSpPr>
        <p:spPr bwMode="auto">
          <a:xfrm>
            <a:off x="0" y="2422525"/>
            <a:ext cx="962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prstClr val="black"/>
                </a:solidFill>
              </a:rPr>
              <a:t>A(Q</a:t>
            </a:r>
            <a:r>
              <a:rPr lang="en-US" altLang="zh-CN" baseline="-25000">
                <a:solidFill>
                  <a:prstClr val="black"/>
                </a:solidFill>
              </a:rPr>
              <a:t>1</a:t>
            </a:r>
            <a:r>
              <a:rPr lang="en-US" altLang="zh-CN">
                <a:solidFill>
                  <a:prstClr val="black"/>
                </a:solidFill>
              </a:rPr>
              <a:t>)</a:t>
            </a:r>
          </a:p>
        </p:txBody>
      </p:sp>
      <p:sp>
        <p:nvSpPr>
          <p:cNvPr id="29845" name="Rectangle 194"/>
          <p:cNvSpPr>
            <a:spLocks noChangeArrowheads="1"/>
          </p:cNvSpPr>
          <p:nvPr/>
        </p:nvSpPr>
        <p:spPr bwMode="auto">
          <a:xfrm>
            <a:off x="0" y="3502025"/>
            <a:ext cx="11464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prstClr val="black"/>
                </a:solidFill>
              </a:rPr>
              <a:t>M</a:t>
            </a:r>
            <a:r>
              <a:rPr lang="en-US" altLang="zh-CN" baseline="-25000">
                <a:solidFill>
                  <a:prstClr val="black"/>
                </a:solidFill>
              </a:rPr>
              <a:t>0</a:t>
            </a:r>
            <a:r>
              <a:rPr lang="en-US" altLang="zh-CN">
                <a:solidFill>
                  <a:prstClr val="black"/>
                </a:solidFill>
              </a:rPr>
              <a:t>(Q</a:t>
            </a:r>
            <a:r>
              <a:rPr lang="en-US" altLang="zh-CN" baseline="-25000">
                <a:solidFill>
                  <a:prstClr val="black"/>
                </a:solidFill>
              </a:rPr>
              <a:t>2</a:t>
            </a:r>
            <a:r>
              <a:rPr lang="en-US" altLang="zh-CN">
                <a:solidFill>
                  <a:prstClr val="black"/>
                </a:solidFill>
              </a:rPr>
              <a:t>)</a:t>
            </a:r>
            <a:endParaRPr lang="en-US" altLang="zh-CN" dirty="0">
              <a:solidFill>
                <a:prstClr val="black"/>
              </a:solidFill>
            </a:endParaRPr>
          </a:p>
        </p:txBody>
      </p:sp>
      <p:sp>
        <p:nvSpPr>
          <p:cNvPr id="29846" name="Rectangle 195"/>
          <p:cNvSpPr>
            <a:spLocks noChangeArrowheads="1"/>
          </p:cNvSpPr>
          <p:nvPr/>
        </p:nvSpPr>
        <p:spPr bwMode="auto">
          <a:xfrm>
            <a:off x="44450" y="4510088"/>
            <a:ext cx="11464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prstClr val="black"/>
                </a:solidFill>
              </a:rPr>
              <a:t>M</a:t>
            </a:r>
            <a:r>
              <a:rPr lang="en-US" altLang="zh-CN" baseline="-25000">
                <a:solidFill>
                  <a:prstClr val="black"/>
                </a:solidFill>
              </a:rPr>
              <a:t>1</a:t>
            </a:r>
            <a:r>
              <a:rPr lang="en-US" altLang="zh-CN">
                <a:solidFill>
                  <a:prstClr val="black"/>
                </a:solidFill>
              </a:rPr>
              <a:t>(Q</a:t>
            </a:r>
            <a:r>
              <a:rPr lang="en-US" altLang="zh-CN" baseline="-25000">
                <a:solidFill>
                  <a:prstClr val="black"/>
                </a:solidFill>
              </a:rPr>
              <a:t>3</a:t>
            </a:r>
            <a:r>
              <a:rPr lang="en-US" altLang="zh-CN">
                <a:solidFill>
                  <a:prstClr val="black"/>
                </a:solidFill>
              </a:rPr>
              <a:t>)</a:t>
            </a:r>
            <a:endParaRPr lang="en-US" altLang="zh-CN" dirty="0">
              <a:solidFill>
                <a:prstClr val="black"/>
              </a:solidFill>
            </a:endParaRPr>
          </a:p>
        </p:txBody>
      </p:sp>
      <p:sp>
        <p:nvSpPr>
          <p:cNvPr id="29847" name="Line 197"/>
          <p:cNvSpPr>
            <a:spLocks noChangeShapeType="1"/>
          </p:cNvSpPr>
          <p:nvPr/>
        </p:nvSpPr>
        <p:spPr bwMode="auto">
          <a:xfrm flipV="1">
            <a:off x="323850" y="6094413"/>
            <a:ext cx="18716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48" name="Line 198"/>
          <p:cNvSpPr>
            <a:spLocks noChangeShapeType="1"/>
          </p:cNvSpPr>
          <p:nvPr/>
        </p:nvSpPr>
        <p:spPr bwMode="auto">
          <a:xfrm>
            <a:off x="2195513" y="5589588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49" name="Line 199"/>
          <p:cNvSpPr>
            <a:spLocks noChangeShapeType="1"/>
          </p:cNvSpPr>
          <p:nvPr/>
        </p:nvSpPr>
        <p:spPr bwMode="auto">
          <a:xfrm>
            <a:off x="2195513" y="5591175"/>
            <a:ext cx="5064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50" name="Line 200"/>
          <p:cNvSpPr>
            <a:spLocks noChangeShapeType="1"/>
          </p:cNvSpPr>
          <p:nvPr/>
        </p:nvSpPr>
        <p:spPr bwMode="auto">
          <a:xfrm>
            <a:off x="2700338" y="5589588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51" name="Line 201"/>
          <p:cNvSpPr>
            <a:spLocks noChangeShapeType="1"/>
          </p:cNvSpPr>
          <p:nvPr/>
        </p:nvSpPr>
        <p:spPr bwMode="auto">
          <a:xfrm flipV="1">
            <a:off x="3203575" y="5591175"/>
            <a:ext cx="15128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52" name="Line 202"/>
          <p:cNvSpPr>
            <a:spLocks noChangeShapeType="1"/>
          </p:cNvSpPr>
          <p:nvPr/>
        </p:nvSpPr>
        <p:spPr bwMode="auto">
          <a:xfrm>
            <a:off x="2700338" y="6094413"/>
            <a:ext cx="501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53" name="Line 203"/>
          <p:cNvSpPr>
            <a:spLocks noChangeShapeType="1"/>
          </p:cNvSpPr>
          <p:nvPr/>
        </p:nvSpPr>
        <p:spPr bwMode="auto">
          <a:xfrm>
            <a:off x="3203575" y="5591175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54" name="Line 204"/>
          <p:cNvSpPr>
            <a:spLocks noChangeShapeType="1"/>
          </p:cNvSpPr>
          <p:nvPr/>
        </p:nvSpPr>
        <p:spPr bwMode="auto">
          <a:xfrm>
            <a:off x="4716463" y="6094413"/>
            <a:ext cx="501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55" name="Line 205"/>
          <p:cNvSpPr>
            <a:spLocks noChangeShapeType="1"/>
          </p:cNvSpPr>
          <p:nvPr/>
        </p:nvSpPr>
        <p:spPr bwMode="auto">
          <a:xfrm>
            <a:off x="5219700" y="5591175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56" name="Line 206"/>
          <p:cNvSpPr>
            <a:spLocks noChangeShapeType="1"/>
          </p:cNvSpPr>
          <p:nvPr/>
        </p:nvSpPr>
        <p:spPr bwMode="auto">
          <a:xfrm>
            <a:off x="4716463" y="5591175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57" name="Line 207"/>
          <p:cNvSpPr>
            <a:spLocks noChangeShapeType="1"/>
          </p:cNvSpPr>
          <p:nvPr/>
        </p:nvSpPr>
        <p:spPr bwMode="auto">
          <a:xfrm>
            <a:off x="5219700" y="5591175"/>
            <a:ext cx="10080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58" name="Line 208"/>
          <p:cNvSpPr>
            <a:spLocks noChangeShapeType="1"/>
          </p:cNvSpPr>
          <p:nvPr/>
        </p:nvSpPr>
        <p:spPr bwMode="auto">
          <a:xfrm>
            <a:off x="6227763" y="5591175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59" name="Line 209"/>
          <p:cNvSpPr>
            <a:spLocks noChangeShapeType="1"/>
          </p:cNvSpPr>
          <p:nvPr/>
        </p:nvSpPr>
        <p:spPr bwMode="auto">
          <a:xfrm>
            <a:off x="6227763" y="6096000"/>
            <a:ext cx="501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60" name="Line 210"/>
          <p:cNvSpPr>
            <a:spLocks noChangeShapeType="1"/>
          </p:cNvSpPr>
          <p:nvPr/>
        </p:nvSpPr>
        <p:spPr bwMode="auto">
          <a:xfrm>
            <a:off x="6731000" y="5592763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61" name="Line 211"/>
          <p:cNvSpPr>
            <a:spLocks noChangeShapeType="1"/>
          </p:cNvSpPr>
          <p:nvPr/>
        </p:nvSpPr>
        <p:spPr bwMode="auto">
          <a:xfrm>
            <a:off x="6732588" y="5589588"/>
            <a:ext cx="10080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62" name="Line 212"/>
          <p:cNvSpPr>
            <a:spLocks noChangeShapeType="1"/>
          </p:cNvSpPr>
          <p:nvPr/>
        </p:nvSpPr>
        <p:spPr bwMode="auto">
          <a:xfrm>
            <a:off x="7740650" y="5589588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63" name="Line 213"/>
          <p:cNvSpPr>
            <a:spLocks noChangeShapeType="1"/>
          </p:cNvSpPr>
          <p:nvPr/>
        </p:nvSpPr>
        <p:spPr bwMode="auto">
          <a:xfrm>
            <a:off x="7740650" y="6094413"/>
            <a:ext cx="14033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864" name="Rectangle 214"/>
          <p:cNvSpPr>
            <a:spLocks noChangeArrowheads="1"/>
          </p:cNvSpPr>
          <p:nvPr/>
        </p:nvSpPr>
        <p:spPr bwMode="auto">
          <a:xfrm>
            <a:off x="250825" y="5591175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prstClr val="black"/>
                </a:solidFill>
              </a:rPr>
              <a:t>Y</a:t>
            </a:r>
            <a:endParaRPr lang="en-US" altLang="zh-CN" baseline="-25000" dirty="0">
              <a:solidFill>
                <a:prstClr val="black"/>
              </a:solidFill>
            </a:endParaRPr>
          </a:p>
        </p:txBody>
      </p:sp>
      <p:sp>
        <p:nvSpPr>
          <p:cNvPr id="29865" name="Text Box 215"/>
          <p:cNvSpPr txBox="1">
            <a:spLocks noChangeArrowheads="1"/>
          </p:cNvSpPr>
          <p:nvPr/>
        </p:nvSpPr>
        <p:spPr bwMode="auto">
          <a:xfrm>
            <a:off x="72206" y="116632"/>
            <a:ext cx="860425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prstClr val="black"/>
                </a:solidFill>
              </a:rPr>
              <a:t>4</a:t>
            </a:r>
            <a:r>
              <a:rPr lang="zh-CN" altLang="en-US" dirty="0">
                <a:solidFill>
                  <a:prstClr val="black"/>
                </a:solidFill>
              </a:rPr>
              <a:t>、动态测试。</a:t>
            </a:r>
            <a:r>
              <a:rPr lang="en-US" altLang="zh-CN" dirty="0">
                <a:solidFill>
                  <a:prstClr val="black"/>
                </a:solidFill>
              </a:rPr>
              <a:t>74LS197</a:t>
            </a:r>
            <a:r>
              <a:rPr lang="zh-CN" altLang="en-US" dirty="0">
                <a:solidFill>
                  <a:prstClr val="black"/>
                </a:solidFill>
              </a:rPr>
              <a:t>接成</a:t>
            </a:r>
            <a:r>
              <a:rPr lang="en-US" altLang="zh-CN" dirty="0">
                <a:solidFill>
                  <a:prstClr val="black"/>
                </a:solidFill>
              </a:rPr>
              <a:t>16</a:t>
            </a:r>
            <a:r>
              <a:rPr lang="zh-CN" altLang="en-US" dirty="0">
                <a:solidFill>
                  <a:prstClr val="black"/>
                </a:solidFill>
              </a:rPr>
              <a:t>进制计数器，</a:t>
            </a:r>
            <a:r>
              <a:rPr lang="en-US" altLang="zh-CN" dirty="0">
                <a:solidFill>
                  <a:prstClr val="black"/>
                </a:solidFill>
              </a:rPr>
              <a:t>CP</a:t>
            </a:r>
            <a:r>
              <a:rPr lang="zh-CN" altLang="en-US" dirty="0">
                <a:solidFill>
                  <a:prstClr val="black"/>
                </a:solidFill>
              </a:rPr>
              <a:t>接</a:t>
            </a:r>
            <a:r>
              <a:rPr lang="en-US" altLang="zh-CN" dirty="0">
                <a:solidFill>
                  <a:prstClr val="black"/>
                </a:solidFill>
              </a:rPr>
              <a:t>10KHz</a:t>
            </a:r>
            <a:r>
              <a:rPr lang="zh-CN" altLang="en-US" dirty="0">
                <a:solidFill>
                  <a:prstClr val="black"/>
                </a:solidFill>
              </a:rPr>
              <a:t>方波观测输出波形。</a:t>
            </a:r>
          </a:p>
        </p:txBody>
      </p:sp>
    </p:spTree>
    <p:extLst>
      <p:ext uri="{BB962C8B-B14F-4D97-AF65-F5344CB8AC3E}">
        <p14:creationId xmlns:p14="http://schemas.microsoft.com/office/powerpoint/2010/main" val="2549222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76672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 dirty="0"/>
              <a:t>下次课前准备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133056"/>
          </a:xfrm>
        </p:spPr>
        <p:txBody>
          <a:bodyPr/>
          <a:lstStyle/>
          <a:p>
            <a:pPr>
              <a:buNone/>
            </a:pPr>
            <a:r>
              <a:rPr lang="zh-CN" altLang="en-US" dirty="0"/>
              <a:t>实验七 译码显示电路（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1</a:t>
            </a:r>
            <a:r>
              <a:rPr lang="zh-CN" altLang="en-US" dirty="0"/>
              <a:t>、使用</a:t>
            </a:r>
            <a:r>
              <a:rPr lang="en-US" altLang="zh-CN" dirty="0" err="1"/>
              <a:t>proteus</a:t>
            </a:r>
            <a:r>
              <a:rPr lang="zh-CN" altLang="en-US" dirty="0"/>
              <a:t>仿真软件完成</a:t>
            </a:r>
            <a:r>
              <a:rPr lang="zh-CN" altLang="en-US"/>
              <a:t>实验七，</a:t>
            </a:r>
            <a:r>
              <a:rPr lang="zh-CN" altLang="en-US" dirty="0"/>
              <a:t>设计并仿真</a:t>
            </a:r>
            <a:endParaRPr lang="en-US" altLang="zh-CN" dirty="0"/>
          </a:p>
          <a:p>
            <a:pPr eaLnBrk="1" hangingPunct="1">
              <a:buFontTx/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51695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流畅">
  <a:themeElements>
    <a:clrScheme name="流畅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流畅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流畅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44</TotalTime>
  <Words>721</Words>
  <Application>Microsoft Office PowerPoint</Application>
  <PresentationFormat>如螢幕大小 (4:3)</PresentationFormat>
  <Paragraphs>154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7" baseType="lpstr">
      <vt:lpstr>Arial</vt:lpstr>
      <vt:lpstr>Calibri</vt:lpstr>
      <vt:lpstr>Cambria Math</vt:lpstr>
      <vt:lpstr>Constantia</vt:lpstr>
      <vt:lpstr>Times New Roman</vt:lpstr>
      <vt:lpstr>Wingdings 2</vt:lpstr>
      <vt:lpstr>流畅</vt:lpstr>
      <vt:lpstr>课堂实验4 （实验六）</vt:lpstr>
      <vt:lpstr>实验六 数据选择器电路原理及应用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下次课前准备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数字电路与逻辑设计实验</dc:title>
  <dc:creator>Administrator</dc:creator>
  <cp:lastModifiedBy>Frank Chan</cp:lastModifiedBy>
  <cp:revision>627</cp:revision>
  <dcterms:created xsi:type="dcterms:W3CDTF">2016-01-14T03:10:00Z</dcterms:created>
  <dcterms:modified xsi:type="dcterms:W3CDTF">2023-05-22T15:21:53Z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